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slides/charts/chart1.xml" ContentType="application/vnd.openxmlformats-officedocument.drawingml.chart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cadd4136477452e" /><Relationship Type="http://schemas.openxmlformats.org/officeDocument/2006/relationships/extended-properties" Target="/docProps/app.xml" Id="Rf051b0b5f6c94b53" /><Relationship Type="http://schemas.openxmlformats.org/officeDocument/2006/relationships/officeDocument" Target="/ppt/presentation.xml" Id="Rc215114aa57d4ee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7a39c0edda8465a"/>
  </p:sldMasterIdLst>
  <p:notesMasterIdLst>
    <p:notesMasterId xmlns:r="http://schemas.openxmlformats.org/officeDocument/2006/relationships" r:id="R267734972600492e"/>
  </p:notesMasterIdLst>
  <p:sldIdLst>
    <p:sldId xmlns:r="http://schemas.openxmlformats.org/officeDocument/2006/relationships" id="256" r:id="Rc0e1f1bc6c0a47e5"/>
    <p:sldId xmlns:r="http://schemas.openxmlformats.org/officeDocument/2006/relationships" id="257" r:id="R815f310e027542a5"/>
    <p:sldId xmlns:r="http://schemas.openxmlformats.org/officeDocument/2006/relationships" id="258" r:id="R3d26984e178441f0"/>
    <p:sldId xmlns:r="http://schemas.openxmlformats.org/officeDocument/2006/relationships" id="259" r:id="R373d37da12e247e1"/>
    <p:sldId xmlns:r="http://schemas.openxmlformats.org/officeDocument/2006/relationships" id="260" r:id="Ra5f17f4a6576471d"/>
    <p:sldId xmlns:r="http://schemas.openxmlformats.org/officeDocument/2006/relationships" id="261" r:id="R17f0e3dbb8884092"/>
    <p:sldId xmlns:r="http://schemas.openxmlformats.org/officeDocument/2006/relationships" id="262" r:id="R75b872bd801d4ce0"/>
    <p:sldId xmlns:r="http://schemas.openxmlformats.org/officeDocument/2006/relationships" id="263" r:id="Ra9570401fc464ffc"/>
    <p:sldId xmlns:r="http://schemas.openxmlformats.org/officeDocument/2006/relationships" id="264" r:id="R11e5f013a90040a0"/>
    <p:sldId xmlns:r="http://schemas.openxmlformats.org/officeDocument/2006/relationships" id="265" r:id="Rfa45a75d0f9b4dce"/>
    <p:sldId xmlns:r="http://schemas.openxmlformats.org/officeDocument/2006/relationships" id="266" r:id="Rbfffc75a6c44499f"/>
    <p:sldId xmlns:r="http://schemas.openxmlformats.org/officeDocument/2006/relationships" id="267" r:id="R871e1b879b034939"/>
    <p:sldId xmlns:r="http://schemas.openxmlformats.org/officeDocument/2006/relationships" id="268" r:id="Rff02c0da57c740c7"/>
    <p:sldId xmlns:r="http://schemas.openxmlformats.org/officeDocument/2006/relationships" id="269" r:id="Rac6a1ff2cd534a25"/>
    <p:sldId xmlns:r="http://schemas.openxmlformats.org/officeDocument/2006/relationships" id="270" r:id="Radf5d959f0a54e5c"/>
    <p:sldId xmlns:r="http://schemas.openxmlformats.org/officeDocument/2006/relationships" id="271" r:id="R464778471c764f38"/>
    <p:sldId xmlns:r="http://schemas.openxmlformats.org/officeDocument/2006/relationships" id="272" r:id="R7828385c50ed4424"/>
    <p:sldId xmlns:r="http://schemas.openxmlformats.org/officeDocument/2006/relationships" id="273" r:id="Rdce906eb9d1f426d"/>
    <p:sldId xmlns:r="http://schemas.openxmlformats.org/officeDocument/2006/relationships" id="274" r:id="R1e2015e1913f4648"/>
    <p:sldId xmlns:r="http://schemas.openxmlformats.org/officeDocument/2006/relationships" id="275" r:id="Rafe52ea6966f400a"/>
    <p:sldId xmlns:r="http://schemas.openxmlformats.org/officeDocument/2006/relationships" id="276" r:id="R27d8f997044c4d20"/>
    <p:sldId xmlns:r="http://schemas.openxmlformats.org/officeDocument/2006/relationships" id="277" r:id="R6d64cf0e848f4588"/>
    <p:sldId xmlns:r="http://schemas.openxmlformats.org/officeDocument/2006/relationships" id="278" r:id="R73a5ca42f2c744d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fc5f4770bb5477a" /><Relationship Type="http://schemas.openxmlformats.org/officeDocument/2006/relationships/slideMaster" Target="/ppt/slideMasters/slideMaster1.xml" Id="Rf7a39c0edda8465a" /><Relationship Type="http://schemas.openxmlformats.org/officeDocument/2006/relationships/notesMaster" Target="/ppt/notesMasters/notesMaster1.xml" Id="R267734972600492e" /><Relationship Type="http://schemas.openxmlformats.org/officeDocument/2006/relationships/presProps" Target="/ppt/presProps.xml" Id="R68781b1c5b254705" /><Relationship Type="http://schemas.openxmlformats.org/officeDocument/2006/relationships/tableStyles" Target="/ppt/tableStyles.xml" Id="R7b4d7fd1b3f24f47" /><Relationship Type="http://schemas.openxmlformats.org/officeDocument/2006/relationships/slide" Target="/ppt/slides/slide1.xml" Id="Rc0e1f1bc6c0a47e5" /><Relationship Type="http://schemas.openxmlformats.org/officeDocument/2006/relationships/slide" Target="/ppt/slides/slide2.xml" Id="R815f310e027542a5" /><Relationship Type="http://schemas.openxmlformats.org/officeDocument/2006/relationships/slide" Target="/ppt/slides/slide3.xml" Id="R3d26984e178441f0" /><Relationship Type="http://schemas.openxmlformats.org/officeDocument/2006/relationships/slide" Target="/ppt/slides/slide4.xml" Id="R373d37da12e247e1" /><Relationship Type="http://schemas.openxmlformats.org/officeDocument/2006/relationships/slide" Target="/ppt/slides/slide5.xml" Id="Ra5f17f4a6576471d" /><Relationship Type="http://schemas.openxmlformats.org/officeDocument/2006/relationships/slide" Target="/ppt/slides/slide6.xml" Id="R17f0e3dbb8884092" /><Relationship Type="http://schemas.openxmlformats.org/officeDocument/2006/relationships/slide" Target="/ppt/slides/slide7.xml" Id="R75b872bd801d4ce0" /><Relationship Type="http://schemas.openxmlformats.org/officeDocument/2006/relationships/slide" Target="/ppt/slides/slide8.xml" Id="Ra9570401fc464ffc" /><Relationship Type="http://schemas.openxmlformats.org/officeDocument/2006/relationships/slide" Target="/ppt/slides/slide9.xml" Id="R11e5f013a90040a0" /><Relationship Type="http://schemas.openxmlformats.org/officeDocument/2006/relationships/slide" Target="/ppt/slides/slide10.xml" Id="Rfa45a75d0f9b4dce" /><Relationship Type="http://schemas.openxmlformats.org/officeDocument/2006/relationships/slide" Target="/ppt/slides/slide11.xml" Id="Rbfffc75a6c44499f" /><Relationship Type="http://schemas.openxmlformats.org/officeDocument/2006/relationships/slide" Target="/ppt/slides/slide12.xml" Id="R871e1b879b034939" /><Relationship Type="http://schemas.openxmlformats.org/officeDocument/2006/relationships/slide" Target="/ppt/slides/slide13.xml" Id="Rff02c0da57c740c7" /><Relationship Type="http://schemas.openxmlformats.org/officeDocument/2006/relationships/slide" Target="/ppt/slides/slide14.xml" Id="Rac6a1ff2cd534a25" /><Relationship Type="http://schemas.openxmlformats.org/officeDocument/2006/relationships/slide" Target="/ppt/slides/slide15.xml" Id="Radf5d959f0a54e5c" /><Relationship Type="http://schemas.openxmlformats.org/officeDocument/2006/relationships/slide" Target="/ppt/slides/slide16.xml" Id="R464778471c764f38" /><Relationship Type="http://schemas.openxmlformats.org/officeDocument/2006/relationships/slide" Target="/ppt/slides/slide17.xml" Id="R7828385c50ed4424" /><Relationship Type="http://schemas.openxmlformats.org/officeDocument/2006/relationships/slide" Target="/ppt/slides/slide18.xml" Id="Rdce906eb9d1f426d" /><Relationship Type="http://schemas.openxmlformats.org/officeDocument/2006/relationships/slide" Target="/ppt/slides/slide19.xml" Id="R1e2015e1913f4648" /><Relationship Type="http://schemas.openxmlformats.org/officeDocument/2006/relationships/slide" Target="/ppt/slides/slide20.xml" Id="Rafe52ea6966f400a" /><Relationship Type="http://schemas.openxmlformats.org/officeDocument/2006/relationships/slide" Target="/ppt/slides/slide21.xml" Id="R27d8f997044c4d20" /><Relationship Type="http://schemas.openxmlformats.org/officeDocument/2006/relationships/slide" Target="/ppt/slides/slide22.xml" Id="R6d64cf0e848f4588" /><Relationship Type="http://schemas.openxmlformats.org/officeDocument/2006/relationships/slide" Target="/ppt/slides/slide23.xml" Id="R73a5ca42f2c744d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7268fad012942e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f6a2e7974c44a7d" /><Relationship Type="http://schemas.openxmlformats.org/officeDocument/2006/relationships/notesMaster" Target="/ppt/notesMasters/notesMaster1.xml" Id="R56fb35542e4341b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cd7ec25feb74475" /><Relationship Type="http://schemas.openxmlformats.org/officeDocument/2006/relationships/notesMaster" Target="/ppt/notesMasters/notesMaster1.xml" Id="R1b1a3df1ab094e0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83281586e3647bf" /><Relationship Type="http://schemas.openxmlformats.org/officeDocument/2006/relationships/notesMaster" Target="/ppt/notesMasters/notesMaster1.xml" Id="R8431dc6aa31b48c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4ef15ab9c9f4114" /><Relationship Type="http://schemas.openxmlformats.org/officeDocument/2006/relationships/notesMaster" Target="/ppt/notesMasters/notesMaster1.xml" Id="R872f4944cd5349a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a3216ae68524cd3" /><Relationship Type="http://schemas.openxmlformats.org/officeDocument/2006/relationships/notesMaster" Target="/ppt/notesMasters/notesMaster1.xml" Id="Re8150f6f727841e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e1ee92a3e534269" /><Relationship Type="http://schemas.openxmlformats.org/officeDocument/2006/relationships/notesMaster" Target="/ppt/notesMasters/notesMaster1.xml" Id="R29b8a662ac3741f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bfd12661eb7402e" /><Relationship Type="http://schemas.openxmlformats.org/officeDocument/2006/relationships/notesMaster" Target="/ppt/notesMasters/notesMaster1.xml" Id="R55ce4904e9f64e3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e807a13a17e4f52" /><Relationship Type="http://schemas.openxmlformats.org/officeDocument/2006/relationships/notesMaster" Target="/ppt/notesMasters/notesMaster1.xml" Id="R406319638cfa4fed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b31335a5de044c58" /><Relationship Type="http://schemas.openxmlformats.org/officeDocument/2006/relationships/notesMaster" Target="/ppt/notesMasters/notesMaster1.xml" Id="R131a762ca6814c8b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d6ffd4b6fab94fab" /><Relationship Type="http://schemas.openxmlformats.org/officeDocument/2006/relationships/notesMaster" Target="/ppt/notesMasters/notesMaster1.xml" Id="R88cc6bdde2d74bd1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eec1084877db46b2" /><Relationship Type="http://schemas.openxmlformats.org/officeDocument/2006/relationships/notesMaster" Target="/ppt/notesMasters/notesMaster1.xml" Id="R9a9d018b21bd4c1b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b52e7090866f47c1" /><Relationship Type="http://schemas.openxmlformats.org/officeDocument/2006/relationships/notesMaster" Target="/ppt/notesMasters/notesMaster1.xml" Id="Re7df257bf73940b3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eab49c7a708b4e44" /><Relationship Type="http://schemas.openxmlformats.org/officeDocument/2006/relationships/notesMaster" Target="/ppt/notesMasters/notesMaster1.xml" Id="Rc0a6be19e2214052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91c055ced28d4c16" /><Relationship Type="http://schemas.openxmlformats.org/officeDocument/2006/relationships/notesMaster" Target="/ppt/notesMasters/notesMaster1.xml" Id="R83f10e4a5c504bb9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1ad11bdef7fa49f6" /><Relationship Type="http://schemas.openxmlformats.org/officeDocument/2006/relationships/notesMaster" Target="/ppt/notesMasters/notesMaster1.xml" Id="R6aeb3c470b6740a5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8481e0fcf014447f" /><Relationship Type="http://schemas.openxmlformats.org/officeDocument/2006/relationships/notesMaster" Target="/ppt/notesMasters/notesMaster1.xml" Id="Rcdc8450bcb724bf4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c0bae3357f0b4108" /><Relationship Type="http://schemas.openxmlformats.org/officeDocument/2006/relationships/notesMaster" Target="/ppt/notesMasters/notesMaster1.xml" Id="Rd21a19634d874850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7a2cba8099854244" /><Relationship Type="http://schemas.openxmlformats.org/officeDocument/2006/relationships/notesMaster" Target="/ppt/notesMasters/notesMaster1.xml" Id="R7b2351d16fbe4b3f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7f6f3605045c4850" /><Relationship Type="http://schemas.openxmlformats.org/officeDocument/2006/relationships/notesMaster" Target="/ppt/notesMasters/notesMaster1.xml" Id="Rf826e68851ed4741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9eaafbcc8490458c" /><Relationship Type="http://schemas.openxmlformats.org/officeDocument/2006/relationships/notesMaster" Target="/ppt/notesMasters/notesMaster1.xml" Id="R6520db59e5ea406c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9859e689fed6407a" /><Relationship Type="http://schemas.openxmlformats.org/officeDocument/2006/relationships/notesMaster" Target="/ppt/notesMasters/notesMaster1.xml" Id="Rea372e5edf184883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2e16cff50614488f" /><Relationship Type="http://schemas.openxmlformats.org/officeDocument/2006/relationships/notesMaster" Target="/ppt/notesMasters/notesMaster1.xml" Id="R74117c49862c4584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8217fb1aeacd444e" /><Relationship Type="http://schemas.openxmlformats.org/officeDocument/2006/relationships/notesMaster" Target="/ppt/notesMasters/notesMaster1.xml" Id="R638ec5f0a15d45b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本編では数値の意味と比較案を説明し、補足で適用条件を確認する。比較例は一律の推奨値ではない。表紙は架空のボールのイメージ。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NAGEYO／芦川和義 / ドリラー和義お兄さん「レイアウトの数字」 / https://nageyo.com/ball-layout-01/</a:t>
            </a:r>
          </a:p>
          <a:p xmlns:a="http://schemas.openxmlformats.org/drawingml/2006/main">
            <a:r>
              <a:t>USBC / Ball Motion Study / https://images.bowl.com/bowl/media/legacy/internap/bowl/equipandspecs/pdfs/08ballmotionstudy.pdf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MoRich / Dual Angle Layout Technique / https://www.buddiesproshop.com/content/DualAngle.pdf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MoRich / Dual Angle Layout Technique / https://www.buddiesproshop.com/content/DualAngle.pdf</a:t>
            </a:r>
          </a:p>
          <a:p xmlns:a="http://schemas.openxmlformats.org/drawingml/2006/main">
            <a:r>
              <a:t>NAGEYO／芦川和義 / PAPってなんすか? / https://nageyo.com/positive-axis-point-01/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優先スピン軸はPreferred Spin Axis。マスバイアスマークはドリル前の高RG軸の目安。CGは重心の偏りの位置を示す。画像は一般的な非対称コアの概念で、実機の形状やマーク位置を再現していない。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PBA / Ball Markings：ピン・CG・優先スピン軸 / https://www.pba.com/pba-league-bowler-certification/rules/universal-playing-rules</a:t>
            </a:r>
          </a:p>
          <a:p xmlns:a="http://schemas.openxmlformats.org/drawingml/2006/main">
            <a:r>
              <a:t>MoRich / Dual Angle Layout Technique / https://www.buddiesproshop.com/content/DualAngle.pdf</a:t>
            </a:r>
          </a:p>
          <a:p xmlns:a="http://schemas.openxmlformats.org/drawingml/2006/main">
            <a:r>
              <a:t>USBC / Ball Motion Study / https://images.bowl.com/bowl/media/legacy/internap/bowl/equipandspecs/pdfs/08ballmotionstudy.pdf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ピンから回転軸までの距離は通常「ピン-PAP距離」。ドリルアングルはピン-PAP線とピン-PSA線の角度。非対称コアのPSAマークを基準とする説明。VALはPAPを通りミッドラインと直交する基準線。球面上で作図するため、この平面図は位置関係を説明する模式図であ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MoRich / Dual Angle Layout Technique / https://www.buddiesproshop.com/content/DualAngle.pdf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USBC / Ball Motion Study / https://images.bowl.com/bowl/media/legacy/internap/bowl/equipandspecs/pdfs/08ballmotionstudy.pdf</a:t>
            </a:r>
          </a:p>
          <a:p xmlns:a="http://schemas.openxmlformats.org/drawingml/2006/main">
            <a:r>
              <a:t>PBA / Ball Markings：ピン・CG・優先スピン軸 / https://www.pba.com/pba-league-bowler-certification/rules/universal-playing-rules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フレアが大きいほど油の付いていない表面を使いやすいが、摩擦・曲がり幅・ピンアクションはカバー、表面、投球条件にも依存する。図は大小を示す模式図。</a:t>
            </a:r>
          </a:p>
          <a:p xmlns:a="http://schemas.openxmlformats.org/drawingml/2006/main">
            <a:r>
              <a:t>MoRich / Dual Angle Layout Technique / https://www.buddiesproshop.com/content/DualAngle.pdf</a:t>
            </a:r>
          </a:p>
          <a:p xmlns:a="http://schemas.openxmlformats.org/drawingml/2006/main">
            <a:r>
              <a:t>Storm / Pin Buffer Layout Guide / https://www.stormbowling.com/storm-pin-buffer-layout-guide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MoRich / Dual Angle Layout Technique / https://www.buddiesproshop.com/content/DualAngle.pdf</a:t>
            </a:r>
          </a:p>
          <a:p xmlns:a="http://schemas.openxmlformats.org/drawingml/2006/main">
            <a:r>
              <a:t>Storm / Pin Buffer Layout Guide / https://www.stormbowling.com/storm-pin-buffer-layout-guide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式(5)の計算。球半径4.2975 in。距離は1/32インチに丸める。PSAは未ドリルの高RG主軸とピンが直交する仮定。反応の説明はMoRichの経験則で、計算値から反応位置を算出したものではない。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MoRich / Dual Angle Layout Technique / https://www.buddiesproshop.com/content/DualAngle.pdf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技術報告第18節。PAPの未ドリル主軸に対する向きは固定される。VAL角がグリップ基準線を回し、穴配置と除去慣性を変える。図は説明用で実球の密度を再現していない。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MoRich / Dual Angle Layout Technique / https://www.buddiesproshop.com/content/DualAngle.pdf</a:t>
            </a:r>
          </a:p>
          <a:p xmlns:a="http://schemas.openxmlformats.org/drawingml/2006/main">
            <a:r>
              <a:t>Storm／Alex Hoskins / Pin Buffer Distance（BowlersMart掲載） / https://www.bowlersmart.com/2021/03/19/storm-pin-buffer-layout-system-for-bowling-ball-drilling-part-3-pin-buffer-distance/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紫の弧がVAL角、縦線が回転軸の基準線（VAL）、下の点が投球時の回転軸の表面位置。左右でピンから回転軸までの距離をそろえた比較。模式図で、施工用の縮尺図ではない。通常扱う0～90度の範囲での関係。</a:t>
            </a:r>
          </a:p>
          <a:p xmlns:a="http://schemas.openxmlformats.org/drawingml/2006/main">
            <a:r>
              <a:t>MoRich / Dual Angle Layout Technique / https://www.buddiesproshop.com/content/DualAngle.pdf</a:t>
            </a:r>
          </a:p>
          <a:p xmlns:a="http://schemas.openxmlformats.org/drawingml/2006/main">
            <a:r>
              <a:t>Storm／Alex Hoskins / Pin Buffer Distance（BowlersMart掲載） / https://www.bowlersmart.com/2021/03/19/storm-pin-buffer-layout-system-for-bowling-ball-drilling-part-3-pin-buffer-distance/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技術報告の式(2)。半径4.2975 in。計算値1.924467785、2.832153660、3.644329774 in。距離ラベルは1/32インチへ丸めた。反応時間や実フレアの測定値ではない。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MoRich pp.11–12。角度合計と配分は施工の経験則。２変数同時変更であり、VAL角単独の因果効果を検証する比較ではない。技術報告第18節の計算で幾何とモデルRG差の違いを確認。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MoRich / Dual Angle Layout Technique / https://www.buddiesproshop.com/content/DualAngle.pdf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基準は一律の推奨値ではない。親指穴あり非対称球。VAL角以外を固定。新しい球への施工候補。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MoRich / Dual Angle Layout Technique / https://www.buddiesproshop.com/content/DualAngle.pdf</a:t>
            </a:r>
          </a:p>
          <a:p xmlns:a="http://schemas.openxmlformats.org/drawingml/2006/main">
            <a:r>
              <a:t>Storm／Alex Hoskins / Pin Buffer Distance（BowlersMart掲載） / https://www.bowlersmart.com/2021/03/19/storm-pin-buffer-layout-system-for-bowling-ball-drilling-part-3-pin-buffer-distance/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親指穴あり非対称球。表面やラインによる変化とドリルによる変化を混同しない。既存球のプラグ再加工を指示するものではなく新規球の比較候補。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MoRich / Dual Angle Layout Technique / https://www.buddiesproshop.com/content/DualAngle.pdf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診断のための観察項目であり、ピン残りだけから原因を断定しない。動画で進行方向と回転を確認。球速・回転数・ライン・表面の情報と合わせる。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USBC / Ball Motion Study / https://images.bowl.com/bowl/media/legacy/internap/bowl/equipandspecs/pdfs/08ballmotionstudy.pdf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技術報告第19節。距離±1/16インチ・角度±2度は説明用の仮定。基準4 1/2インチ・45度、R=4.2975 in。四隅の厳密計算。施工公差を提案するものではない。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Storm / Pin Buffer Layout Guide / https://www.stormbowling.com/storm-pin-buffer-layout-guide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Storm 2LS一次資料pp.1–3。COGはCenter of Grip。CGマークと混同しない。デュアルアングルの作図自体の可否ではなく、３穴経験則の流用が問題。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Storm / 2LS Drilling Instructions / https://stormproducts.nyc3.cdn.digitaloceanspaces.com/web_page_content/DOWNLOADS/Storm_2LSDrillingInstructions_Pamphlet.pdf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接客用の進行案。実測検証の標準規格ではない。製品と表面、リリース条件が決まらない段階で万能の数値を提示しない。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MoRich / Dual Angle Layout Technique / https://www.buddiesproshop.com/content/DualAngle.pdf</a:t>
            </a:r>
          </a:p>
          <a:p xmlns:a="http://schemas.openxmlformats.org/drawingml/2006/main">
            <a:r>
              <a:t>Storm / Pin Buffer Layout Guide / https://www.stormbowling.com/storm-pin-buffer-layout-guide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技術報告第14～20節。コード検証は実球妥当性確認と異なる。密度同定不能性は同心球殻の独立反例。旧互換指標D×Uは実測フレアに換算しない。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技術報告第13・21節。複数投球を複数個体へ水増ししない。球速の測定位置、油、表面、投球順、主評価量を記録。サンプル数は予備試験で判断する。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技術報告には該当ページ、式、検証条件を記載。図版は説明用イメージで測定結果ではない。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7062279618844e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ff7e7038ec046bc" /><Relationship Type="http://schemas.openxmlformats.org/officeDocument/2006/relationships/slideLayout" Target="/ppt/slideLayouts/slideLayout1.xml" Id="R64898aebc2bf4e5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4898aebc2bf4e5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c3c356aa71243ab" /><Relationship Type="http://schemas.openxmlformats.org/officeDocument/2006/relationships/image" Target="/ppt/media/image.png" Id="Rd76c26fc84bb4aac" /><Relationship Type="http://schemas.openxmlformats.org/officeDocument/2006/relationships/notesSlide" Target="/ppt/notesSlides/notesSlide1.xml" Id="Rdfd8006c33754cc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6bd663fc1804b91" /><Relationship Type="http://schemas.openxmlformats.org/officeDocument/2006/relationships/notesSlide" Target="/ppt/notesSlides/notesSlide2.xml" Id="R9e04bf019cad4cc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1a004d8d6054a0d" /><Relationship Type="http://schemas.openxmlformats.org/officeDocument/2006/relationships/notesSlide" Target="/ppt/notesSlides/notesSlide3.xml" Id="R2287435c5c7c45c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afc1f8283944313" /><Relationship Type="http://schemas.openxmlformats.org/officeDocument/2006/relationships/image" Target="/ppt/media/image2.png" Id="R026928ab42794a5b" /><Relationship Type="http://schemas.openxmlformats.org/officeDocument/2006/relationships/notesSlide" Target="/ppt/notesSlides/notesSlide4.xml" Id="Rf0955dbc8faa468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a2ce640ed5a4643" /><Relationship Type="http://schemas.openxmlformats.org/officeDocument/2006/relationships/image" Target="/ppt/media/image3.png" Id="Ra853c3fdf560424b" /><Relationship Type="http://schemas.openxmlformats.org/officeDocument/2006/relationships/notesSlide" Target="/ppt/notesSlides/notesSlide5.xml" Id="R6775d5f015f9481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26e900741ea4081" /><Relationship Type="http://schemas.openxmlformats.org/officeDocument/2006/relationships/image" Target="/ppt/media/image4.png" Id="R90364159b0284b82" /><Relationship Type="http://schemas.openxmlformats.org/officeDocument/2006/relationships/notesSlide" Target="/ppt/notesSlides/notesSlide6.xml" Id="R1306cc9b0e85414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ac9e3dd0abf4cf8" /><Relationship Type="http://schemas.openxmlformats.org/officeDocument/2006/relationships/notesSlide" Target="/ppt/notesSlides/notesSlide7.xml" Id="Rd206455b0760430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41c7b758e9e4c66" /><Relationship Type="http://schemas.openxmlformats.org/officeDocument/2006/relationships/image" Target="/ppt/media/image5.png" Id="Rece61dc8d3ed4363" /><Relationship Type="http://schemas.openxmlformats.org/officeDocument/2006/relationships/notesSlide" Target="/ppt/notesSlides/notesSlide8.xml" Id="R63de00c84bc44438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6d32f92e8e74b19" /><Relationship Type="http://schemas.openxmlformats.org/officeDocument/2006/relationships/image" Target="/ppt/media/image6.png" Id="R62b6fd3c2cb145a2" /><Relationship Type="http://schemas.openxmlformats.org/officeDocument/2006/relationships/notesSlide" Target="/ppt/notesSlides/notesSlide9.xml" Id="R02cb69f3580e4445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3d459299cf14bb4" /><Relationship Type="http://schemas.openxmlformats.org/officeDocument/2006/relationships/notesSlide" Target="/ppt/notesSlides/notesSlide10.xml" Id="R653894ad28d84d8e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83bbc2e755f4ed4" /><Relationship Type="http://schemas.openxmlformats.org/officeDocument/2006/relationships/image" Target="/ppt/media/image7.png" Id="R96c9f9a786654829" /><Relationship Type="http://schemas.openxmlformats.org/officeDocument/2006/relationships/notesSlide" Target="/ppt/notesSlides/notesSlide11.xml" Id="R2220faa3afcc48f0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8736564afc34585" /><Relationship Type="http://schemas.openxmlformats.org/officeDocument/2006/relationships/image" Target="/ppt/media/image8.png" Id="R1fd0aa434e9f4446" /><Relationship Type="http://schemas.openxmlformats.org/officeDocument/2006/relationships/notesSlide" Target="/ppt/notesSlides/notesSlide12.xml" Id="Raea2357998f442c2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c32d5e0247f4900" /><Relationship Type="http://schemas.openxmlformats.org/officeDocument/2006/relationships/chart" Target="/ppt/slides/charts/chart1.xml" Id="R9ff35c147f39430e" /><Relationship Type="http://schemas.openxmlformats.org/officeDocument/2006/relationships/notesSlide" Target="/ppt/notesSlides/notesSlide13.xml" Id="R88ee068fdee74da2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da09f2679f448a2" /><Relationship Type="http://schemas.openxmlformats.org/officeDocument/2006/relationships/notesSlide" Target="/ppt/notesSlides/notesSlide14.xml" Id="Ra6cd810d51374c97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25d84b21b1d499f" /><Relationship Type="http://schemas.openxmlformats.org/officeDocument/2006/relationships/notesSlide" Target="/ppt/notesSlides/notesSlide15.xml" Id="Rdd27d52639094444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69fbfe92b3a4ad8" /><Relationship Type="http://schemas.openxmlformats.org/officeDocument/2006/relationships/image" Target="/ppt/media/image9.png" Id="R4ddc13c1469145d2" /><Relationship Type="http://schemas.openxmlformats.org/officeDocument/2006/relationships/notesSlide" Target="/ppt/notesSlides/notesSlide16.xml" Id="Ra40be4b0419e4a61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2cfb94bd7b34b5f" /><Relationship Type="http://schemas.openxmlformats.org/officeDocument/2006/relationships/notesSlide" Target="/ppt/notesSlides/notesSlide17.xml" Id="R8838d3a0be124148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290f7a19c1646f4" /><Relationship Type="http://schemas.openxmlformats.org/officeDocument/2006/relationships/notesSlide" Target="/ppt/notesSlides/notesSlide18.xml" Id="R09f750a4943a4b86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2f348b948044743" /><Relationship Type="http://schemas.openxmlformats.org/officeDocument/2006/relationships/notesSlide" Target="/ppt/notesSlides/notesSlide19.xml" Id="R9e2edb6986894d00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498a6a8c2c24a0b" /><Relationship Type="http://schemas.openxmlformats.org/officeDocument/2006/relationships/notesSlide" Target="/ppt/notesSlides/notesSlide20.xml" Id="R3be38a9b63424724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fd2aef1ae97477e" /><Relationship Type="http://schemas.openxmlformats.org/officeDocument/2006/relationships/notesSlide" Target="/ppt/notesSlides/notesSlide21.xml" Id="R57efb270a92e4d80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61561c7ca594614" /><Relationship Type="http://schemas.openxmlformats.org/officeDocument/2006/relationships/notesSlide" Target="/ppt/notesSlides/notesSlide22.xml" Id="Rb857115ad5be40fe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a271a8d70404e00" /><Relationship Type="http://schemas.openxmlformats.org/officeDocument/2006/relationships/hyperlink" Target="https://www.buddiesproshop.com/content/DualAngle.pdf" TargetMode="External" Id="Rf90736041f3044ab" /><Relationship Type="http://schemas.openxmlformats.org/officeDocument/2006/relationships/hyperlink" Target="https://www.stormbowling.com/storm-pin-buffer-layout-guide" TargetMode="External" Id="R8cb821e86b924b68" /><Relationship Type="http://schemas.openxmlformats.org/officeDocument/2006/relationships/hyperlink" Target="https://www.bowlersmart.com/2021/03/19/storm-pin-buffer-layout-system-for-bowling-ball-drilling-part-3-pin-buffer-distance/" TargetMode="External" Id="R35d7565b678f4172" /><Relationship Type="http://schemas.openxmlformats.org/officeDocument/2006/relationships/hyperlink" Target="https://stormproducts.nyc3.cdn.digitaloceanspaces.com/web_page_content/DOWNLOADS/Storm_2LSDrillingInstructions_Pamphlet.pdf" TargetMode="External" Id="R0b18ac4b737f413a" /><Relationship Type="http://schemas.openxmlformats.org/officeDocument/2006/relationships/hyperlink" Target="https://images.bowl.com/bowl/media/legacy/internap/bowl/equipandspecs/pdfs/08ballmotionstudy.pdf" TargetMode="External" Id="Rfaa7cdbcd68140ae" /><Relationship Type="http://schemas.openxmlformats.org/officeDocument/2006/relationships/notesSlide" Target="/ppt/notesSlides/notesSlide23.xml" Id="R3a9c25e2ffd6429b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ピンバッファ</c:v>
          </c:tx>
          <c:spPr>
            <a:solidFill xmlns:a="http://schemas.openxmlformats.org/drawingml/2006/main">
              <a:srgbClr val="57D4CF"/>
            </a:solidFill>
          </c:spPr>
          <c:cat>
            <c:strRef>
              <c:f>'Chart Data'!$A$2:$A$4</c:f>
              <c:strCache>
                <c:ptCount val="3"/>
                <c:pt idx="0">
                  <c:v>60°</c:v>
                </c:pt>
                <c:pt idx="1">
                  <c:v>45°</c:v>
                </c:pt>
                <c:pt idx="2">
                  <c:v>30°</c:v>
                </c:pt>
              </c:strCache>
            </c:strRef>
          </c:cat>
          <c:val>
            <c:numRef>
              <c:f>'Chart Data'!$B$2:$B$4</c:f>
              <c:numCache>
                <c:formatCode>0"″"</c:formatCode>
                <c:ptCount val="3"/>
                <c:pt idx="0">
                  <c:v>3.644329774</c:v>
                </c:pt>
                <c:pt idx="1">
                  <c:v>2.83215366</c:v>
                </c:pt>
                <c:pt idx="2">
                  <c:v>1.924467785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BIZ UDGothic"/>
                  <a:ea typeface="BIZ UDGothic"/>
                  <a:cs typeface="BIZ UDGothic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0&quot;″&quot;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F4F6F6"/>
                </a:solidFill>
                <a:latin typeface="BIZ UDGothic"/>
                <a:ea typeface="BIZ UDGothic"/>
                <a:cs typeface="BIZ UDGothic"/>
              </a:defRPr>
            </a:pPr>
          </a:p>
        </c:txPr>
        <c:crossAx val="48672768"/>
      </c:catAx>
      <c:valAx>
        <c:axId val="48672768"/>
        <c:scaling>
          <c:orientation val="minMax"/>
          <c:max val="4"/>
          <c:min val="0"/>
        </c:scaling>
        <c:delete val="0"/>
        <c:axPos val="b"/>
        <c:numFmt formatCode="0&quot;″&quot;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F4F6F6"/>
                </a:solidFill>
                <a:latin typeface="BIZ UDGothic"/>
                <a:ea typeface="BIZ UDGothic"/>
                <a:cs typeface="BIZ UDGothic"/>
              </a:defRPr>
            </a:pPr>
          </a:p>
        </c:txPr>
        <c:crossAx val="48650112"/>
        <c:crossBetween val="between"/>
        <c:majorUnit val="1"/>
      </c:valAx>
    </c:plotArea>
    <c:plotVisOnly val="1"/>
  </c:chart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7131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B1DAA40-818E-47C1-B3D0-F3A3D2AB0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7D4C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7D4CF"/>
                </a:solidFill>
                <a:latin typeface="Arial"/>
                <a:ea typeface="Arial"/>
                <a:cs typeface="Arial"/>
              </a:rPr>
              <a:t>DUAL ANGLE LAYOUT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2C11A08-8C0D-4464-9F04-CA2BDC273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23875"/>
            <a:ext cx="110299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B68EDCE-A255-4917-B66D-0F173324C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28725"/>
            <a:ext cx="1095375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DAF67BF-3FC6-45BA-B57A-717CE724E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10325"/>
            <a:ext cx="38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A5B7C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A5B7C2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76c26fc84bb4aac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62526F3-AFFC-4924-B966-7ACF9713E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14375"/>
            <a:ext cx="666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57D4CF"/>
                </a:solidFill>
                <a:latin typeface="BIZ UDGothic"/>
                <a:ea typeface="BIZ UDGothic"/>
                <a:cs typeface="BIZ UDGothic"/>
              </a:defRPr>
            </a:pPr>
            <a:r>
              <a:rPr sz="1725" b="1">
                <a:solidFill>
                  <a:srgbClr val="57D4CF"/>
                </a:solidFill>
                <a:latin typeface="BIZ UDGothic"/>
                <a:ea typeface="BIZ UDGothic"/>
                <a:cs typeface="BIZ UDGothic"/>
              </a:rPr>
              <a:t>デュアルアングルレイアウト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717BC59-EEEA-42EF-A04F-07FF2BE9E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876425"/>
            <a:ext cx="7048500" cy="1771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4125" b="1">
                <a:solidFill>
                  <a:srgbClr val="F4F6F6"/>
                </a:solidFill>
                <a:latin typeface="Yu Gothic"/>
                <a:ea typeface="Yu Gothic"/>
                <a:cs typeface="Yu Gothic"/>
              </a:defRPr>
            </a:pPr>
            <a:r>
              <a:rPr sz="4125" b="1">
                <a:solidFill>
                  <a:srgbClr val="F4F6F6"/>
                </a:solidFill>
                <a:latin typeface="Yu Gothic"/>
                <a:ea typeface="Yu Gothic"/>
                <a:cs typeface="Yu Gothic"/>
              </a:rPr>
              <a:t>次の１球の</a:t>
            </a:r>
          </a:p>
          <a:p xmlns:a="http://schemas.openxmlformats.org/drawingml/2006/main">
            <a:pPr>
              <a:defRPr sz="4125" b="1">
                <a:solidFill>
                  <a:srgbClr val="F4F6F6"/>
                </a:solidFill>
                <a:latin typeface="Yu Gothic"/>
                <a:ea typeface="Yu Gothic"/>
                <a:cs typeface="Yu Gothic"/>
              </a:defRPr>
            </a:pPr>
            <a:r>
              <a:rPr sz="4125" b="1">
                <a:solidFill>
                  <a:srgbClr val="F4F6F6"/>
                </a:solidFill>
                <a:latin typeface="Yu Gothic"/>
                <a:ea typeface="Yu Gothic"/>
                <a:cs typeface="Yu Gothic"/>
              </a:rPr>
              <a:t>レイアウトを考える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17D7798-514E-4833-93E7-6AC5FE23F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162425"/>
            <a:ext cx="62865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F4F6F6"/>
                </a:solidFill>
                <a:latin typeface="BIZ UDGothic"/>
                <a:ea typeface="BIZ UDGothic"/>
                <a:cs typeface="BIZ UDGothic"/>
              </a:defRPr>
            </a:pPr>
            <a:r>
              <a:rPr sz="2400" b="0">
                <a:solidFill>
                  <a:srgbClr val="F4F6F6"/>
                </a:solidFill>
                <a:latin typeface="BIZ UDGothic"/>
                <a:ea typeface="BIZ UDGothic"/>
                <a:cs typeface="BIZ UDGothic"/>
              </a:rPr>
              <a:t>３値の意味と、比較する候補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C4272C9-3F79-432F-89BC-695DFD69F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705475"/>
            <a:ext cx="6096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A5B7C2"/>
                </a:solidFill>
                <a:latin typeface="BIZ UDGothic"/>
                <a:ea typeface="BIZ UDGothic"/>
                <a:cs typeface="BIZ UDGothic"/>
              </a:defRPr>
            </a:pPr>
            <a:r>
              <a:rPr sz="1875" b="0">
                <a:solidFill>
                  <a:srgbClr val="A5B7C2"/>
                </a:solidFill>
                <a:latin typeface="BIZ UDGothic"/>
                <a:ea typeface="BIZ UDGothic"/>
                <a:cs typeface="BIZ UDGothic"/>
              </a:rPr>
              <a:t>ドリラーと考える、次の１球</a:t>
            </a:r>
          </a:p>
        </p:txBody>
      </p:sp>
    </p:spTree>
    <p:extLst>
      <p:ext uri="{BB962C8B-B14F-4D97-AF65-F5344CB8AC3E}">
        <p14:creationId xmlns:p14="http://schemas.microsoft.com/office/powerpoint/2010/main" val="10367123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7131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01B2D12-ABAA-40C7-8AF1-647090A09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7D4C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7D4CF"/>
                </a:solidFill>
                <a:latin typeface="Arial"/>
                <a:ea typeface="Arial"/>
                <a:cs typeface="Arial"/>
              </a:rPr>
              <a:t>DUAL ANGLE LAYOUT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30EE30D-A068-40B9-943D-6F1388B0D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23875"/>
            <a:ext cx="110299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F4F6F6"/>
                </a:solidFill>
                <a:latin typeface="Yu Gothic"/>
                <a:ea typeface="Yu Gothic"/>
                <a:cs typeface="Yu Gothic"/>
              </a:defRPr>
            </a:pPr>
            <a:r>
              <a:rPr sz="2925" b="1">
                <a:solidFill>
                  <a:srgbClr val="F4F6F6"/>
                </a:solidFill>
                <a:latin typeface="Yu Gothic"/>
                <a:ea typeface="Yu Gothic"/>
                <a:cs typeface="Yu Gothic"/>
              </a:rPr>
              <a:t>レイアウトで、どの動きを変えたいか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17F713E-7C23-496E-BF26-3FC5ED9FD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28725"/>
            <a:ext cx="1095375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A5B7C2"/>
                </a:solidFill>
                <a:latin typeface="BIZ UDGothic"/>
                <a:ea typeface="BIZ UDGothic"/>
                <a:cs typeface="BIZ UDGothic"/>
              </a:defRPr>
            </a:pPr>
            <a:r>
              <a:rPr sz="1800" b="0">
                <a:solidFill>
                  <a:srgbClr val="A5B7C2"/>
                </a:solidFill>
                <a:latin typeface="BIZ UDGothic"/>
                <a:ea typeface="BIZ UDGothic"/>
                <a:cs typeface="BIZ UDGothic"/>
              </a:rPr>
              <a:t>今のボールと比べて、レーンのどこで反応してほしいかを確認します。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BE71BEB-9837-4DBF-8E08-64EF1D34C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10325"/>
            <a:ext cx="38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A5B7C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A5B7C2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CE172EE-8061-4C16-9BE1-6EDE02190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43125"/>
            <a:ext cx="14287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6000" b="1">
                <a:solidFill>
                  <a:srgbClr val="FFB66F"/>
                </a:solidFill>
                <a:latin typeface="Arial"/>
                <a:ea typeface="Arial"/>
                <a:cs typeface="Arial"/>
              </a:defRPr>
            </a:pPr>
            <a:r>
              <a:rPr sz="6000" b="1">
                <a:solidFill>
                  <a:srgbClr val="FFB66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2A94819-7131-4BC6-B3A9-0193AD419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095500"/>
            <a:ext cx="8382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F4F6F6"/>
                </a:solidFill>
                <a:latin typeface="BIZ UDGothic"/>
                <a:ea typeface="BIZ UDGothic"/>
                <a:cs typeface="BIZ UDGothic"/>
              </a:defRPr>
            </a:pPr>
            <a:r>
              <a:rPr sz="3150" b="1">
                <a:solidFill>
                  <a:srgbClr val="F4F6F6"/>
                </a:solidFill>
                <a:latin typeface="BIZ UDGothic"/>
                <a:ea typeface="BIZ UDGothic"/>
                <a:cs typeface="BIZ UDGothic"/>
              </a:rPr>
              <a:t>手前の走り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B801C5A-A61C-4F6A-BCE3-59DB6B46A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2800350"/>
            <a:ext cx="8858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A5B7C2"/>
                </a:solidFill>
                <a:latin typeface="BIZ UDGothic"/>
                <a:ea typeface="BIZ UDGothic"/>
                <a:cs typeface="BIZ UDGothic"/>
              </a:defRPr>
            </a:pPr>
            <a:r>
              <a:rPr sz="2175" b="0">
                <a:solidFill>
                  <a:srgbClr val="A5B7C2"/>
                </a:solidFill>
                <a:latin typeface="BIZ UDGothic"/>
                <a:ea typeface="BIZ UDGothic"/>
                <a:cs typeface="BIZ UDGothic"/>
              </a:rPr>
              <a:t>早く反応し過ぎるのか、奥まで滑り過ぎるのか。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E83B3FD-75B4-4BF9-9413-836FF25E7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24275"/>
            <a:ext cx="14287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6000" b="1">
                <a:solidFill>
                  <a:srgbClr val="C4A4FF"/>
                </a:solidFill>
                <a:latin typeface="Arial"/>
                <a:ea typeface="Arial"/>
                <a:cs typeface="Arial"/>
              </a:defRPr>
            </a:pPr>
            <a:r>
              <a:rPr sz="6000" b="1">
                <a:solidFill>
                  <a:srgbClr val="C4A4F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B024587-0DB9-4AB5-B389-9A0553EA5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676650"/>
            <a:ext cx="8382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F4F6F6"/>
                </a:solidFill>
                <a:latin typeface="BIZ UDGothic"/>
                <a:ea typeface="BIZ UDGothic"/>
                <a:cs typeface="BIZ UDGothic"/>
              </a:defRPr>
            </a:pPr>
            <a:r>
              <a:rPr sz="3150" b="1">
                <a:solidFill>
                  <a:srgbClr val="F4F6F6"/>
                </a:solidFill>
                <a:latin typeface="BIZ UDGothic"/>
                <a:ea typeface="BIZ UDGothic"/>
                <a:cs typeface="BIZ UDGothic"/>
              </a:rPr>
              <a:t>奥での曲がり方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352A381-CF74-46F0-B652-D9AB72A86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4381500"/>
            <a:ext cx="8858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A5B7C2"/>
                </a:solidFill>
                <a:latin typeface="BIZ UDGothic"/>
                <a:ea typeface="BIZ UDGothic"/>
                <a:cs typeface="BIZ UDGothic"/>
              </a:defRPr>
            </a:pPr>
            <a:r>
              <a:rPr sz="2175" b="0">
                <a:solidFill>
                  <a:srgbClr val="A5B7C2"/>
                </a:solidFill>
                <a:latin typeface="BIZ UDGothic"/>
                <a:ea typeface="BIZ UDGothic"/>
                <a:cs typeface="BIZ UDGothic"/>
              </a:rPr>
              <a:t>急に切れ込むのか、向きの変わり方が物足りないのか。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074CF77-52D0-4E10-A5EC-DA6F53B41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57875"/>
            <a:ext cx="10953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57D4CF"/>
                </a:solidFill>
                <a:latin typeface="BIZ UDGothic"/>
                <a:ea typeface="BIZ UDGothic"/>
                <a:cs typeface="BIZ UDGothic"/>
              </a:defRPr>
            </a:pPr>
            <a:r>
              <a:rPr sz="1725" b="1">
                <a:solidFill>
                  <a:srgbClr val="57D4CF"/>
                </a:solidFill>
                <a:latin typeface="BIZ UDGothic"/>
                <a:ea typeface="BIZ UDGothic"/>
                <a:cs typeface="BIZ UDGothic"/>
              </a:rPr>
              <a:t>ボールと表面仕上げを選び、その特性をレイアウトで調整します。</a:t>
            </a:r>
          </a:p>
        </p:txBody>
      </p:sp>
    </p:spTree>
    <p:extLst>
      <p:ext uri="{BB962C8B-B14F-4D97-AF65-F5344CB8AC3E}">
        <p14:creationId xmlns:p14="http://schemas.microsoft.com/office/powerpoint/2010/main" val="21107717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7131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C108DB1-6AB6-4814-97EE-6E24AE13A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7D4C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7D4CF"/>
                </a:solidFill>
                <a:latin typeface="Arial"/>
                <a:ea typeface="Arial"/>
                <a:cs typeface="Arial"/>
              </a:rPr>
              <a:t>DUAL ANGLE LAYOUT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A8639FB-4F42-4901-B874-0A072B0DD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23875"/>
            <a:ext cx="110299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F4F6F6"/>
                </a:solidFill>
                <a:latin typeface="Yu Gothic"/>
                <a:ea typeface="Yu Gothic"/>
                <a:cs typeface="Yu Gothic"/>
              </a:defRPr>
            </a:pPr>
            <a:r>
              <a:rPr sz="2925" b="1">
                <a:solidFill>
                  <a:srgbClr val="F4F6F6"/>
                </a:solidFill>
                <a:latin typeface="Yu Gothic"/>
                <a:ea typeface="Yu Gothic"/>
                <a:cs typeface="Yu Gothic"/>
              </a:rPr>
              <a:t>３つの数値が指定するもの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DFF3054-A4B0-476C-9B24-4CE51BCDF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28725"/>
            <a:ext cx="1095375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A5B7C2"/>
                </a:solidFill>
                <a:latin typeface="BIZ UDGothic"/>
                <a:ea typeface="BIZ UDGothic"/>
                <a:cs typeface="BIZ UDGothic"/>
              </a:defRPr>
            </a:pPr>
            <a:r>
              <a:rPr sz="1800" b="0">
                <a:solidFill>
                  <a:srgbClr val="A5B7C2"/>
                </a:solidFill>
                <a:latin typeface="BIZ UDGothic"/>
                <a:ea typeface="BIZ UDGothic"/>
                <a:cs typeface="BIZ UDGothic"/>
              </a:rPr>
              <a:t>説明例：45° × 4 1/2″ × 45°。各値は組み合わせて使います。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B2A4EB5-03A0-49AD-973E-05DCBB53C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10325"/>
            <a:ext cx="38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A5B7C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A5B7C2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DA9C72A-E3F6-4416-B852-3F3DB21A7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0"/>
            <a:ext cx="328612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5400" b="1">
                <a:solidFill>
                  <a:srgbClr val="FFB66F"/>
                </a:solidFill>
                <a:latin typeface="Arial"/>
                <a:ea typeface="Arial"/>
                <a:cs typeface="Arial"/>
              </a:defRPr>
            </a:pPr>
            <a:r>
              <a:rPr sz="5400" b="1">
                <a:solidFill>
                  <a:srgbClr val="FFB66F"/>
                </a:solidFill>
                <a:latin typeface="Arial"/>
                <a:ea typeface="Arial"/>
                <a:cs typeface="Arial"/>
              </a:rPr>
              <a:t>45°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DED76AE-BDA0-415C-A410-5B75EC1A7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095500"/>
            <a:ext cx="328612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5400" b="1">
                <a:solidFill>
                  <a:srgbClr val="57D4CF"/>
                </a:solidFill>
                <a:latin typeface="Arial"/>
                <a:ea typeface="Arial"/>
                <a:cs typeface="Arial"/>
              </a:defRPr>
            </a:pPr>
            <a:r>
              <a:rPr sz="5400" b="1">
                <a:solidFill>
                  <a:srgbClr val="57D4CF"/>
                </a:solidFill>
                <a:latin typeface="Arial"/>
                <a:ea typeface="Arial"/>
                <a:cs typeface="Arial"/>
              </a:rPr>
              <a:t>4 1/2″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ACA4BE4-684F-4805-887D-ABF733F11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8175" y="2095500"/>
            <a:ext cx="328612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5400" b="1">
                <a:solidFill>
                  <a:srgbClr val="C4A4FF"/>
                </a:solidFill>
                <a:latin typeface="Arial"/>
                <a:ea typeface="Arial"/>
                <a:cs typeface="Arial"/>
              </a:defRPr>
            </a:pPr>
            <a:r>
              <a:rPr sz="5400" b="1">
                <a:solidFill>
                  <a:srgbClr val="C4A4FF"/>
                </a:solidFill>
                <a:latin typeface="Arial"/>
                <a:ea typeface="Arial"/>
                <a:cs typeface="Arial"/>
              </a:rPr>
              <a:t>45°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CE3E876-5B66-48AD-9E68-19C330699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52800"/>
            <a:ext cx="32861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FB66F"/>
                </a:solidFill>
                <a:latin typeface="BIZ UDGothic"/>
                <a:ea typeface="BIZ UDGothic"/>
                <a:cs typeface="BIZ UDGothic"/>
              </a:defRPr>
            </a:pPr>
            <a:r>
              <a:rPr sz="2250" b="1">
                <a:solidFill>
                  <a:srgbClr val="FFB66F"/>
                </a:solidFill>
                <a:latin typeface="BIZ UDGothic"/>
                <a:ea typeface="BIZ UDGothic"/>
                <a:cs typeface="BIZ UDGothic"/>
              </a:rPr>
              <a:t>ドリルアングル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42213A9-8A58-4490-A4C6-3D5EED02C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352800"/>
            <a:ext cx="32861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57D4CF"/>
                </a:solidFill>
                <a:latin typeface="BIZ UDGothic"/>
                <a:ea typeface="BIZ UDGothic"/>
                <a:cs typeface="BIZ UDGothic"/>
              </a:defRPr>
            </a:pPr>
            <a:r>
              <a:rPr sz="2250" b="1">
                <a:solidFill>
                  <a:srgbClr val="57D4CF"/>
                </a:solidFill>
                <a:latin typeface="BIZ UDGothic"/>
                <a:ea typeface="BIZ UDGothic"/>
                <a:cs typeface="BIZ UDGothic"/>
              </a:rPr>
              <a:t>ピン–PAP距離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61FE6EA-6841-42CA-80DD-00AA546CC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8175" y="3352800"/>
            <a:ext cx="32861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C4A4FF"/>
                </a:solidFill>
                <a:latin typeface="BIZ UDGothic"/>
                <a:ea typeface="BIZ UDGothic"/>
                <a:cs typeface="BIZ UDGothic"/>
              </a:defRPr>
            </a:pPr>
            <a:r>
              <a:rPr sz="2250" b="1">
                <a:solidFill>
                  <a:srgbClr val="C4A4FF"/>
                </a:solidFill>
                <a:latin typeface="BIZ UDGothic"/>
                <a:ea typeface="BIZ UDGothic"/>
                <a:cs typeface="BIZ UDGothic"/>
              </a:rPr>
              <a:t>VAL角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3552492-0656-4650-98F5-EC59C8124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0"/>
            <a:ext cx="32861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4F6F6"/>
                </a:solidFill>
                <a:latin typeface="BIZ UDGothic"/>
                <a:ea typeface="BIZ UDGothic"/>
                <a:cs typeface="BIZ UDGothic"/>
              </a:defRPr>
            </a:pPr>
            <a:r>
              <a:rPr sz="2100" b="0">
                <a:solidFill>
                  <a:srgbClr val="F4F6F6"/>
                </a:solidFill>
                <a:latin typeface="BIZ UDGothic"/>
                <a:ea typeface="BIZ UDGothic"/>
                <a:cs typeface="BIZ UDGothic"/>
              </a:rPr>
              <a:t>PAPに対する</a:t>
            </a:r>
          </a:p>
          <a:p xmlns:a="http://schemas.openxmlformats.org/drawingml/2006/main">
            <a:pPr>
              <a:defRPr sz="2100" b="0">
                <a:solidFill>
                  <a:srgbClr val="F4F6F6"/>
                </a:solidFill>
                <a:latin typeface="BIZ UDGothic"/>
                <a:ea typeface="BIZ UDGothic"/>
                <a:cs typeface="BIZ UDGothic"/>
              </a:defRPr>
            </a:pPr>
            <a:r>
              <a:rPr sz="2100" b="0">
                <a:solidFill>
                  <a:srgbClr val="F4F6F6"/>
                </a:solidFill>
                <a:latin typeface="BIZ UDGothic"/>
                <a:ea typeface="BIZ UDGothic"/>
                <a:cs typeface="BIZ UDGothic"/>
              </a:rPr>
              <a:t>非対称コアの向き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1BEAC1A-6B49-4750-A62C-858761A0F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4095750"/>
            <a:ext cx="32861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4F6F6"/>
                </a:solidFill>
                <a:latin typeface="BIZ UDGothic"/>
                <a:ea typeface="BIZ UDGothic"/>
                <a:cs typeface="BIZ UDGothic"/>
              </a:defRPr>
            </a:pPr>
            <a:r>
              <a:rPr sz="2100" b="0">
                <a:solidFill>
                  <a:srgbClr val="F4F6F6"/>
                </a:solidFill>
                <a:latin typeface="BIZ UDGothic"/>
                <a:ea typeface="BIZ UDGothic"/>
                <a:cs typeface="BIZ UDGothic"/>
              </a:rPr>
              <a:t>PAPに対する</a:t>
            </a:r>
          </a:p>
          <a:p xmlns:a="http://schemas.openxmlformats.org/drawingml/2006/main">
            <a:pPr>
              <a:defRPr sz="2100" b="0">
                <a:solidFill>
                  <a:srgbClr val="F4F6F6"/>
                </a:solidFill>
                <a:latin typeface="BIZ UDGothic"/>
                <a:ea typeface="BIZ UDGothic"/>
                <a:cs typeface="BIZ UDGothic"/>
              </a:defRPr>
            </a:pPr>
            <a:r>
              <a:rPr sz="2100" b="0">
                <a:solidFill>
                  <a:srgbClr val="F4F6F6"/>
                </a:solidFill>
                <a:latin typeface="BIZ UDGothic"/>
                <a:ea typeface="BIZ UDGothic"/>
                <a:cs typeface="BIZ UDGothic"/>
              </a:rPr>
              <a:t>低RG軸の傾き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E27F175-E73E-4897-99AD-766AEBF15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8175" y="4095750"/>
            <a:ext cx="32861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4F6F6"/>
                </a:solidFill>
                <a:latin typeface="BIZ UDGothic"/>
                <a:ea typeface="BIZ UDGothic"/>
                <a:cs typeface="BIZ UDGothic"/>
              </a:defRPr>
            </a:pPr>
            <a:r>
              <a:rPr sz="2100" b="0">
                <a:solidFill>
                  <a:srgbClr val="F4F6F6"/>
                </a:solidFill>
                <a:latin typeface="BIZ UDGothic"/>
                <a:ea typeface="BIZ UDGothic"/>
                <a:cs typeface="BIZ UDGothic"/>
              </a:rPr>
              <a:t>コアに対する</a:t>
            </a:r>
          </a:p>
          <a:p xmlns:a="http://schemas.openxmlformats.org/drawingml/2006/main">
            <a:pPr>
              <a:defRPr sz="2100" b="0">
                <a:solidFill>
                  <a:srgbClr val="F4F6F6"/>
                </a:solidFill>
                <a:latin typeface="BIZ UDGothic"/>
                <a:ea typeface="BIZ UDGothic"/>
                <a:cs typeface="BIZ UDGothic"/>
              </a:defRPr>
            </a:pPr>
            <a:r>
              <a:rPr sz="2100" b="0">
                <a:solidFill>
                  <a:srgbClr val="F4F6F6"/>
                </a:solidFill>
                <a:latin typeface="BIZ UDGothic"/>
                <a:ea typeface="BIZ UDGothic"/>
                <a:cs typeface="BIZ UDGothic"/>
              </a:rPr>
              <a:t>グリップ基準線の向き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2251441-3C82-43EB-ADB5-006A06DC7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57875"/>
            <a:ext cx="10953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57D4CF"/>
                </a:solidFill>
                <a:latin typeface="BIZ UDGothic"/>
                <a:ea typeface="BIZ UDGothic"/>
                <a:cs typeface="BIZ UDGothic"/>
              </a:defRPr>
            </a:pPr>
            <a:r>
              <a:rPr sz="1725" b="1">
                <a:solidFill>
                  <a:srgbClr val="57D4CF"/>
                </a:solidFill>
                <a:latin typeface="BIZ UDGothic"/>
                <a:ea typeface="BIZ UDGothic"/>
                <a:cs typeface="BIZ UDGothic"/>
              </a:rPr>
              <a:t>立ち上がり・フレア・反応の速さを考える手掛かり。１つの値が１つの動きだけを変えるわけではありません。</a:t>
            </a:r>
          </a:p>
        </p:txBody>
      </p:sp>
    </p:spTree>
    <p:extLst>
      <p:ext uri="{BB962C8B-B14F-4D97-AF65-F5344CB8AC3E}">
        <p14:creationId xmlns:p14="http://schemas.microsoft.com/office/powerpoint/2010/main" val="178053395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7131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8C32DE5-BEDF-4BB6-BDF0-914722686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7D4C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7D4CF"/>
                </a:solidFill>
                <a:latin typeface="Arial"/>
                <a:ea typeface="Arial"/>
                <a:cs typeface="Arial"/>
              </a:rPr>
              <a:t>DUAL ANGLE LAYOUT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28398D1-7110-4302-B048-1EEDE9403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23875"/>
            <a:ext cx="110299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F4F6F6"/>
                </a:solidFill>
                <a:latin typeface="Yu Gothic"/>
                <a:ea typeface="Yu Gothic"/>
                <a:cs typeface="Yu Gothic"/>
              </a:defRPr>
            </a:pPr>
            <a:r>
              <a:rPr sz="2925" b="1">
                <a:solidFill>
                  <a:srgbClr val="F4F6F6"/>
                </a:solidFill>
                <a:latin typeface="Yu Gothic"/>
                <a:ea typeface="Yu Gothic"/>
                <a:cs typeface="Yu Gothic"/>
              </a:rPr>
              <a:t>基準になるのは、投球時の回転軸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5ED32FB-D287-49F1-B278-FCB2D2974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28725"/>
            <a:ext cx="1095375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A5B7C2"/>
                </a:solidFill>
                <a:latin typeface="BIZ UDGothic"/>
                <a:ea typeface="BIZ UDGothic"/>
                <a:cs typeface="BIZ UDGothic"/>
              </a:defRPr>
            </a:pPr>
            <a:r>
              <a:rPr sz="1800" b="0">
                <a:solidFill>
                  <a:srgbClr val="A5B7C2"/>
                </a:solidFill>
                <a:latin typeface="BIZ UDGothic"/>
                <a:ea typeface="BIZ UDGothic"/>
                <a:cs typeface="BIZ UDGothic"/>
              </a:rPr>
              <a:t>投球直後の回転軸の基準点が、ポジティブ・アクシス・ポイント（PAP）です。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A29CD7B-AEF9-4DD7-BF44-BD329C290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10325"/>
            <a:ext cx="38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A5B7C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A5B7C2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26928ab42794a5b"/>
          <a:stretch xmlns:a="http://schemas.openxmlformats.org/drawingml/2006/main"/>
        </p:blipFill>
        <p:spPr>
          <a:xfrm xmlns:a="http://schemas.openxmlformats.org/drawingml/2006/main">
            <a:off x="1209675" y="1762125"/>
            <a:ext cx="6400800" cy="426720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B2643F1-BCF3-4DE9-B3C8-6BAAC9880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7775" y="2200275"/>
            <a:ext cx="1619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FFB66F"/>
                </a:solidFill>
                <a:latin typeface="BIZ UDGothic"/>
                <a:ea typeface="BIZ UDGothic"/>
                <a:cs typeface="BIZ UDGothic"/>
              </a:defRPr>
            </a:pPr>
            <a:r>
              <a:rPr sz="2175" b="1">
                <a:solidFill>
                  <a:srgbClr val="FFB66F"/>
                </a:solidFill>
                <a:latin typeface="BIZ UDGothic"/>
                <a:ea typeface="BIZ UDGothic"/>
                <a:cs typeface="BIZ UDGothic"/>
              </a:rPr>
              <a:t>ピン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32E94DA-FB8E-4DDA-9556-87DCE183F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333750"/>
            <a:ext cx="142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F4F6F6"/>
                </a:solidFill>
                <a:latin typeface="BIZ UDGothic"/>
                <a:ea typeface="BIZ UDGothic"/>
                <a:cs typeface="BIZ UDGothic"/>
              </a:defRPr>
            </a:pPr>
            <a:r>
              <a:rPr sz="1950" b="0">
                <a:solidFill>
                  <a:srgbClr val="F4F6F6"/>
                </a:solidFill>
                <a:latin typeface="BIZ UDGothic"/>
                <a:ea typeface="BIZ UDGothic"/>
                <a:cs typeface="BIZ UDGothic"/>
              </a:rPr>
              <a:t>回転軸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3583725-4211-4BA9-96A7-31B155DEC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238375"/>
            <a:ext cx="285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C4A4FF"/>
                </a:solidFill>
                <a:latin typeface="BIZ UDGothic"/>
                <a:ea typeface="BIZ UDGothic"/>
                <a:cs typeface="BIZ UDGothic"/>
              </a:defRPr>
            </a:pPr>
            <a:r>
              <a:rPr sz="2475" b="1">
                <a:solidFill>
                  <a:srgbClr val="C4A4FF"/>
                </a:solidFill>
                <a:latin typeface="BIZ UDGothic"/>
                <a:ea typeface="BIZ UDGothic"/>
                <a:cs typeface="BIZ UDGothic"/>
              </a:rPr>
              <a:t>投球時のPAP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0C68D1E-5315-4B0C-BB0E-B758D041C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924175"/>
            <a:ext cx="2857500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4F6F6"/>
                </a:solidFill>
                <a:latin typeface="BIZ UDGothic"/>
                <a:ea typeface="BIZ UDGothic"/>
                <a:cs typeface="BIZ UDGothic"/>
              </a:defRPr>
            </a:pPr>
            <a:r>
              <a:rPr sz="2100" b="0">
                <a:solidFill>
                  <a:srgbClr val="F4F6F6"/>
                </a:solidFill>
                <a:latin typeface="BIZ UDGothic"/>
                <a:ea typeface="BIZ UDGothic"/>
                <a:cs typeface="BIZ UDGothic"/>
              </a:rPr>
              <a:t>実際の投球から</a:t>
            </a:r>
          </a:p>
          <a:p xmlns:a="http://schemas.openxmlformats.org/drawingml/2006/main">
            <a:pPr>
              <a:defRPr sz="2100" b="0">
                <a:solidFill>
                  <a:srgbClr val="F4F6F6"/>
                </a:solidFill>
                <a:latin typeface="BIZ UDGothic"/>
                <a:ea typeface="BIZ UDGothic"/>
                <a:cs typeface="BIZ UDGothic"/>
              </a:defRPr>
            </a:pPr>
            <a:r>
              <a:rPr sz="2100" b="0">
                <a:solidFill>
                  <a:srgbClr val="F4F6F6"/>
                </a:solidFill>
                <a:latin typeface="BIZ UDGothic"/>
                <a:ea typeface="BIZ UDGothic"/>
                <a:cs typeface="BIZ UDGothic"/>
              </a:rPr>
              <a:t>測定します。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0B47D9E-C3A5-42F8-8583-D9BAEDB70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4295775"/>
            <a:ext cx="2857500" cy="1266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F4F6F6"/>
                </a:solidFill>
                <a:latin typeface="BIZ UDGothic"/>
                <a:ea typeface="BIZ UDGothic"/>
                <a:cs typeface="BIZ UDGothic"/>
              </a:defRPr>
            </a:pPr>
            <a:r>
              <a:rPr sz="1950" b="0">
                <a:solidFill>
                  <a:srgbClr val="F4F6F6"/>
                </a:solidFill>
                <a:latin typeface="BIZ UDGothic"/>
                <a:ea typeface="BIZ UDGothic"/>
                <a:cs typeface="BIZ UDGothic"/>
              </a:rPr>
              <a:t>同じレイアウトでも、</a:t>
            </a:r>
          </a:p>
          <a:p xmlns:a="http://schemas.openxmlformats.org/drawingml/2006/main">
            <a:pPr>
              <a:defRPr sz="1950" b="0">
                <a:solidFill>
                  <a:srgbClr val="F4F6F6"/>
                </a:solidFill>
                <a:latin typeface="BIZ UDGothic"/>
                <a:ea typeface="BIZ UDGothic"/>
                <a:cs typeface="BIZ UDGothic"/>
              </a:defRPr>
            </a:pPr>
            <a:r>
              <a:rPr sz="1950" b="0">
                <a:solidFill>
                  <a:srgbClr val="F4F6F6"/>
                </a:solidFill>
                <a:latin typeface="BIZ UDGothic"/>
                <a:ea typeface="BIZ UDGothic"/>
                <a:cs typeface="BIZ UDGothic"/>
              </a:rPr>
              <a:t>回転軸の位置が違えば</a:t>
            </a:r>
          </a:p>
          <a:p xmlns:a="http://schemas.openxmlformats.org/drawingml/2006/main">
            <a:pPr>
              <a:defRPr sz="1950" b="0">
                <a:solidFill>
                  <a:srgbClr val="F4F6F6"/>
                </a:solidFill>
                <a:latin typeface="BIZ UDGothic"/>
                <a:ea typeface="BIZ UDGothic"/>
                <a:cs typeface="BIZ UDGothic"/>
              </a:defRPr>
            </a:pPr>
            <a:r>
              <a:rPr sz="1950" b="0">
                <a:solidFill>
                  <a:srgbClr val="F4F6F6"/>
                </a:solidFill>
                <a:latin typeface="BIZ UDGothic"/>
                <a:ea typeface="BIZ UDGothic"/>
                <a:cs typeface="BIZ UDGothic"/>
              </a:rPr>
              <a:t>穴の配置は変わります。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5EA74C6-6016-4E42-90DD-825DB0BFD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34100"/>
            <a:ext cx="10972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A5B7C2"/>
                </a:solidFill>
                <a:latin typeface="BIZ UDGothic"/>
                <a:ea typeface="BIZ UDGothic"/>
                <a:cs typeface="BIZ UDGothic"/>
              </a:defRPr>
            </a:pPr>
            <a:r>
              <a:rPr sz="1500" b="0">
                <a:solidFill>
                  <a:srgbClr val="A5B7C2"/>
                </a:solidFill>
                <a:latin typeface="BIZ UDGothic"/>
                <a:ea typeface="BIZ UDGothic"/>
                <a:cs typeface="BIZ UDGothic"/>
              </a:rPr>
              <a:t>図はピンと回転軸の位置関係を示す模式図。以降の「回転軸までの距離」は、この表面の点までの距離です。</a:t>
            </a:r>
          </a:p>
        </p:txBody>
      </p:sp>
    </p:spTree>
    <p:extLst>
      <p:ext uri="{BB962C8B-B14F-4D97-AF65-F5344CB8AC3E}">
        <p14:creationId xmlns:p14="http://schemas.microsoft.com/office/powerpoint/2010/main" val="73570191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7131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47E5186-6A2A-4D2D-A048-45B373618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7D4C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7D4CF"/>
                </a:solidFill>
                <a:latin typeface="Arial"/>
                <a:ea typeface="Arial"/>
                <a:cs typeface="Arial"/>
              </a:rPr>
              <a:t>DUAL ANGLE LAYOUT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F0F27FE-2105-4A7C-B2C0-B4EEA8648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23875"/>
            <a:ext cx="110299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E948944-0509-44D1-B782-AFCC21364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28725"/>
            <a:ext cx="1095375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F6475CC-DB4B-41A3-8C9A-1692DB6CC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10325"/>
            <a:ext cx="38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A5B7C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A5B7C2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853c3fdf560424b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8F486C2-5505-4713-A41C-B97DFF931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1975"/>
            <a:ext cx="69532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75" b="1">
                <a:solidFill>
                  <a:srgbClr val="F4F6F6"/>
                </a:solidFill>
                <a:latin typeface="Yu Gothic"/>
                <a:ea typeface="Yu Gothic"/>
                <a:cs typeface="Yu Gothic"/>
              </a:defRPr>
            </a:pPr>
            <a:r>
              <a:rPr sz="3075" b="1">
                <a:solidFill>
                  <a:srgbClr val="F4F6F6"/>
                </a:solidFill>
                <a:latin typeface="Yu Gothic"/>
                <a:ea typeface="Yu Gothic"/>
                <a:cs typeface="Yu Gothic"/>
              </a:rPr>
              <a:t>ボール側の３つの基準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26B4F0F-DC2B-49FE-9C77-D7DCE8BC3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62125"/>
            <a:ext cx="538162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FFB66F"/>
                </a:solidFill>
                <a:latin typeface="BIZ UDGothic"/>
                <a:ea typeface="BIZ UDGothic"/>
                <a:cs typeface="BIZ UDGothic"/>
              </a:defRPr>
            </a:pPr>
            <a:r>
              <a:rPr sz="2325" b="1">
                <a:solidFill>
                  <a:srgbClr val="FFB66F"/>
                </a:solidFill>
                <a:latin typeface="BIZ UDGothic"/>
                <a:ea typeface="BIZ UDGothic"/>
                <a:cs typeface="BIZ UDGothic"/>
              </a:rPr>
              <a:t>① ピン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85B87ED-5D7F-4843-AE18-29CAA4128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95525"/>
            <a:ext cx="5429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F4F6F6"/>
                </a:solidFill>
                <a:latin typeface="BIZ UDGothic"/>
                <a:ea typeface="BIZ UDGothic"/>
                <a:cs typeface="BIZ UDGothic"/>
              </a:defRPr>
            </a:pPr>
            <a:r>
              <a:rPr sz="1950" b="0">
                <a:solidFill>
                  <a:srgbClr val="F4F6F6"/>
                </a:solidFill>
                <a:latin typeface="BIZ UDGothic"/>
                <a:ea typeface="BIZ UDGothic"/>
                <a:cs typeface="BIZ UDGothic"/>
              </a:rPr>
              <a:t>最小慣性半径の軸（低RG軸）の目安。</a:t>
            </a:r>
          </a:p>
          <a:p xmlns:a="http://schemas.openxmlformats.org/drawingml/2006/main">
            <a:pPr>
              <a:defRPr sz="1950" b="0">
                <a:solidFill>
                  <a:srgbClr val="F4F6F6"/>
                </a:solidFill>
                <a:latin typeface="BIZ UDGothic"/>
                <a:ea typeface="BIZ UDGothic"/>
                <a:cs typeface="BIZ UDGothic"/>
              </a:defRPr>
            </a:pPr>
            <a:r>
              <a:rPr sz="1950" b="0">
                <a:solidFill>
                  <a:srgbClr val="F4F6F6"/>
                </a:solidFill>
                <a:latin typeface="BIZ UDGothic"/>
                <a:ea typeface="BIZ UDGothic"/>
                <a:cs typeface="BIZ UDGothic"/>
              </a:rPr>
              <a:t>距離とドリルアングルの基点です。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557F30C-B871-4C8E-B785-F3835C5D9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24225"/>
            <a:ext cx="56197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57D4CF"/>
                </a:solidFill>
                <a:latin typeface="BIZ UDGothic"/>
                <a:ea typeface="BIZ UDGothic"/>
                <a:cs typeface="BIZ UDGothic"/>
              </a:defRPr>
            </a:pPr>
            <a:r>
              <a:rPr sz="2325" b="1">
                <a:solidFill>
                  <a:srgbClr val="57D4CF"/>
                </a:solidFill>
                <a:latin typeface="BIZ UDGothic"/>
                <a:ea typeface="BIZ UDGothic"/>
                <a:cs typeface="BIZ UDGothic"/>
              </a:rPr>
              <a:t>② マスバイアスマーク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2CC5BBF-3904-40AF-8351-4E7913985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57625"/>
            <a:ext cx="5619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F4F6F6"/>
                </a:solidFill>
                <a:latin typeface="BIZ UDGothic"/>
                <a:ea typeface="BIZ UDGothic"/>
                <a:cs typeface="BIZ UDGothic"/>
              </a:defRPr>
            </a:pPr>
            <a:r>
              <a:rPr sz="1950" b="0">
                <a:solidFill>
                  <a:srgbClr val="F4F6F6"/>
                </a:solidFill>
                <a:latin typeface="BIZ UDGothic"/>
                <a:ea typeface="BIZ UDGothic"/>
                <a:cs typeface="BIZ UDGothic"/>
              </a:rPr>
              <a:t>ドリル前の優先スピン軸（PSA）の目安。</a:t>
            </a:r>
          </a:p>
          <a:p xmlns:a="http://schemas.openxmlformats.org/drawingml/2006/main">
            <a:pPr>
              <a:defRPr sz="1950" b="0">
                <a:solidFill>
                  <a:srgbClr val="F4F6F6"/>
                </a:solidFill>
                <a:latin typeface="BIZ UDGothic"/>
                <a:ea typeface="BIZ UDGothic"/>
                <a:cs typeface="BIZ UDGothic"/>
              </a:defRPr>
            </a:pPr>
            <a:r>
              <a:rPr sz="1950" b="0">
                <a:solidFill>
                  <a:srgbClr val="F4F6F6"/>
                </a:solidFill>
                <a:latin typeface="BIZ UDGothic"/>
                <a:ea typeface="BIZ UDGothic"/>
                <a:cs typeface="BIZ UDGothic"/>
              </a:rPr>
              <a:t>非対称球の高RG軸を示します。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6A26FAE-0AA1-4F44-B2CA-16D5B822F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95850"/>
            <a:ext cx="56197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C4A4FF"/>
                </a:solidFill>
                <a:latin typeface="BIZ UDGothic"/>
                <a:ea typeface="BIZ UDGothic"/>
                <a:cs typeface="BIZ UDGothic"/>
              </a:defRPr>
            </a:pPr>
            <a:r>
              <a:rPr sz="2325" b="1">
                <a:solidFill>
                  <a:srgbClr val="C4A4FF"/>
                </a:solidFill>
                <a:latin typeface="BIZ UDGothic"/>
                <a:ea typeface="BIZ UDGothic"/>
                <a:cs typeface="BIZ UDGothic"/>
              </a:rPr>
              <a:t>③ 重心マーク（CG）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E72BD22-7F1F-40B7-9E11-B326D40B1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29250"/>
            <a:ext cx="5619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F4F6F6"/>
                </a:solidFill>
                <a:latin typeface="BIZ UDGothic"/>
                <a:ea typeface="BIZ UDGothic"/>
                <a:cs typeface="BIZ UDGothic"/>
              </a:defRPr>
            </a:pPr>
            <a:r>
              <a:rPr sz="1950" b="0">
                <a:solidFill>
                  <a:srgbClr val="F4F6F6"/>
                </a:solidFill>
                <a:latin typeface="BIZ UDGothic"/>
                <a:ea typeface="BIZ UDGothic"/>
                <a:cs typeface="BIZ UDGothic"/>
              </a:rPr>
              <a:t>ドリル前の重心の偏りを示す印。</a:t>
            </a:r>
          </a:p>
          <a:p xmlns:a="http://schemas.openxmlformats.org/drawingml/2006/main">
            <a:pPr>
              <a:defRPr sz="1950" b="0">
                <a:solidFill>
                  <a:srgbClr val="F4F6F6"/>
                </a:solidFill>
                <a:latin typeface="BIZ UDGothic"/>
                <a:ea typeface="BIZ UDGothic"/>
                <a:cs typeface="BIZ UDGothic"/>
              </a:defRPr>
            </a:pPr>
            <a:r>
              <a:rPr sz="1950" b="0">
                <a:solidFill>
                  <a:srgbClr val="F4F6F6"/>
                </a:solidFill>
                <a:latin typeface="BIZ UDGothic"/>
                <a:ea typeface="BIZ UDGothic"/>
                <a:cs typeface="BIZ UDGothic"/>
              </a:rPr>
              <a:t>PSAとは別の情報です。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13DAAFC-F62D-42EE-96DE-49DB875DB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6448425"/>
            <a:ext cx="2952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A5B7C2"/>
                </a:solidFill>
                <a:latin typeface="BIZ UDGothic"/>
                <a:ea typeface="BIZ UDGothic"/>
                <a:cs typeface="BIZ UDGothic"/>
              </a:defRPr>
            </a:pPr>
            <a:r>
              <a:rPr sz="1275" b="0">
                <a:solidFill>
                  <a:srgbClr val="A5B7C2"/>
                </a:solidFill>
                <a:latin typeface="BIZ UDGothic"/>
                <a:ea typeface="BIZ UDGothic"/>
                <a:cs typeface="BIZ UDGothic"/>
              </a:rPr>
              <a:t>表面のマーク位置を示す模式図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76113E6-BB10-4ECE-BCE2-231D914E0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34125"/>
            <a:ext cx="77152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A5B7C2"/>
                </a:solidFill>
                <a:latin typeface="BIZ UDGothic"/>
                <a:ea typeface="BIZ UDGothic"/>
                <a:cs typeface="BIZ UDGothic"/>
              </a:defRPr>
            </a:pPr>
            <a:r>
              <a:rPr sz="1425" b="0">
                <a:solidFill>
                  <a:srgbClr val="A5B7C2"/>
                </a:solidFill>
                <a:latin typeface="BIZ UDGothic"/>
                <a:ea typeface="BIZ UDGothic"/>
                <a:cs typeface="BIZ UDGothic"/>
              </a:rPr>
              <a:t>対称球では、原典はピン–CG線を作図の基準にしています。</a:t>
            </a:r>
          </a:p>
        </p:txBody>
      </p:sp>
    </p:spTree>
    <p:extLst>
      <p:ext uri="{BB962C8B-B14F-4D97-AF65-F5344CB8AC3E}">
        <p14:creationId xmlns:p14="http://schemas.microsoft.com/office/powerpoint/2010/main" val="103285964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7131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CBD7268-337C-4FC5-9DFE-66FBF8E9A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7D4C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7D4CF"/>
                </a:solidFill>
                <a:latin typeface="Arial"/>
                <a:ea typeface="Arial"/>
                <a:cs typeface="Arial"/>
              </a:rPr>
              <a:t>DUAL ANGLE LAYOUT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391E64A-E2EE-4AE2-95CD-86631A99E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23875"/>
            <a:ext cx="110299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F4F6F6"/>
                </a:solidFill>
                <a:latin typeface="Yu Gothic"/>
                <a:ea typeface="Yu Gothic"/>
                <a:cs typeface="Yu Gothic"/>
              </a:defRPr>
            </a:pPr>
            <a:r>
              <a:rPr sz="2925" b="1">
                <a:solidFill>
                  <a:srgbClr val="F4F6F6"/>
                </a:solidFill>
                <a:latin typeface="Yu Gothic"/>
                <a:ea typeface="Yu Gothic"/>
                <a:cs typeface="Yu Gothic"/>
              </a:rPr>
              <a:t>２つの角度と、１つの距離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4885427-6AA6-4426-934A-5F081175C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28725"/>
            <a:ext cx="1095375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A5B7C2"/>
                </a:solidFill>
                <a:latin typeface="BIZ UDGothic"/>
                <a:ea typeface="BIZ UDGothic"/>
                <a:cs typeface="BIZ UDGothic"/>
              </a:defRPr>
            </a:pPr>
            <a:r>
              <a:rPr sz="1800" b="0">
                <a:solidFill>
                  <a:srgbClr val="A5B7C2"/>
                </a:solidFill>
                <a:latin typeface="BIZ UDGothic"/>
                <a:ea typeface="BIZ UDGothic"/>
                <a:cs typeface="BIZ UDGothic"/>
              </a:rPr>
              <a:t>どの点を中心に測るかが、それぞれ違います。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760AC83-968C-43A7-8232-6364E07EF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10325"/>
            <a:ext cx="38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A5B7C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A5B7C2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0364159b0284b82"/>
          <a:stretch xmlns:a="http://schemas.openxmlformats.org/drawingml/2006/main"/>
        </p:blipFill>
        <p:spPr>
          <a:xfrm xmlns:a="http://schemas.openxmlformats.org/drawingml/2006/main">
            <a:off x="571500" y="1743075"/>
            <a:ext cx="6257925" cy="417195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74FF11C-2A16-405C-A17C-46D9C6F4F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2295525"/>
            <a:ext cx="10477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FFB66F"/>
                </a:solidFill>
                <a:latin typeface="BIZ UDGothic"/>
                <a:ea typeface="BIZ UDGothic"/>
                <a:cs typeface="BIZ UDGothic"/>
              </a:defRPr>
            </a:pPr>
            <a:r>
              <a:rPr sz="1875" b="1">
                <a:solidFill>
                  <a:srgbClr val="FFB66F"/>
                </a:solidFill>
                <a:latin typeface="BIZ UDGothic"/>
                <a:ea typeface="BIZ UDGothic"/>
                <a:cs typeface="BIZ UDGothic"/>
              </a:rPr>
              <a:t>ピン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8F8A571-9546-4087-957F-842BEB228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095625"/>
            <a:ext cx="1333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FFB66F"/>
                </a:solidFill>
                <a:latin typeface="BIZ UDGothic"/>
                <a:ea typeface="BIZ UDGothic"/>
                <a:cs typeface="BIZ UDGothic"/>
              </a:defRPr>
            </a:pPr>
            <a:r>
              <a:rPr sz="1950" b="1">
                <a:solidFill>
                  <a:srgbClr val="FFB66F"/>
                </a:solidFill>
                <a:latin typeface="BIZ UDGothic"/>
                <a:ea typeface="BIZ UDGothic"/>
                <a:cs typeface="BIZ UDGothic"/>
              </a:rPr>
              <a:t>ドリル</a:t>
            </a:r>
          </a:p>
          <a:p xmlns:a="http://schemas.openxmlformats.org/drawingml/2006/main">
            <a:pPr>
              <a:defRPr sz="1950" b="1">
                <a:solidFill>
                  <a:srgbClr val="FFB66F"/>
                </a:solidFill>
                <a:latin typeface="BIZ UDGothic"/>
                <a:ea typeface="BIZ UDGothic"/>
                <a:cs typeface="BIZ UDGothic"/>
              </a:defRPr>
            </a:pPr>
            <a:r>
              <a:rPr sz="1950" b="1">
                <a:solidFill>
                  <a:srgbClr val="FFB66F"/>
                </a:solidFill>
                <a:latin typeface="BIZ UDGothic"/>
                <a:ea typeface="BIZ UDGothic"/>
                <a:cs typeface="BIZ UDGothic"/>
              </a:rPr>
              <a:t>アングル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0280DE3-68AF-4B07-A7A6-C168FFA36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524125"/>
            <a:ext cx="165735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57D4CF"/>
                </a:solidFill>
                <a:latin typeface="BIZ UDGothic"/>
                <a:ea typeface="BIZ UDGothic"/>
                <a:cs typeface="BIZ UDGothic"/>
              </a:defRPr>
            </a:pPr>
            <a:r>
              <a:rPr sz="1725" b="1">
                <a:solidFill>
                  <a:srgbClr val="57D4CF"/>
                </a:solidFill>
                <a:latin typeface="BIZ UDGothic"/>
                <a:ea typeface="BIZ UDGothic"/>
                <a:cs typeface="BIZ UDGothic"/>
              </a:rPr>
              <a:t>ピンから</a:t>
            </a:r>
          </a:p>
          <a:p xmlns:a="http://schemas.openxmlformats.org/drawingml/2006/main">
            <a:pPr>
              <a:defRPr sz="1725" b="1">
                <a:solidFill>
                  <a:srgbClr val="57D4CF"/>
                </a:solidFill>
                <a:latin typeface="BIZ UDGothic"/>
                <a:ea typeface="BIZ UDGothic"/>
                <a:cs typeface="BIZ UDGothic"/>
              </a:defRPr>
            </a:pPr>
            <a:r>
              <a:rPr sz="1725" b="1">
                <a:solidFill>
                  <a:srgbClr val="57D4CF"/>
                </a:solidFill>
                <a:latin typeface="BIZ UDGothic"/>
                <a:ea typeface="BIZ UDGothic"/>
                <a:cs typeface="BIZ UDGothic"/>
              </a:rPr>
              <a:t>回転軸までの</a:t>
            </a:r>
          </a:p>
          <a:p xmlns:a="http://schemas.openxmlformats.org/drawingml/2006/main">
            <a:pPr>
              <a:defRPr sz="1725" b="1">
                <a:solidFill>
                  <a:srgbClr val="57D4CF"/>
                </a:solidFill>
                <a:latin typeface="BIZ UDGothic"/>
                <a:ea typeface="BIZ UDGothic"/>
                <a:cs typeface="BIZ UDGothic"/>
              </a:defRPr>
            </a:pPr>
            <a:r>
              <a:rPr sz="1725" b="1">
                <a:solidFill>
                  <a:srgbClr val="57D4CF"/>
                </a:solidFill>
                <a:latin typeface="BIZ UDGothic"/>
                <a:ea typeface="BIZ UDGothic"/>
                <a:cs typeface="BIZ UDGothic"/>
              </a:rPr>
              <a:t>距離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1043E86-521C-40F8-A96A-3E53E1E6F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4200525"/>
            <a:ext cx="1571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C4A4FF"/>
                </a:solidFill>
                <a:latin typeface="BIZ UDGothic"/>
                <a:ea typeface="BIZ UDGothic"/>
                <a:cs typeface="BIZ UDGothic"/>
              </a:defRPr>
            </a:pPr>
            <a:r>
              <a:rPr sz="2025" b="1">
                <a:solidFill>
                  <a:srgbClr val="C4A4FF"/>
                </a:solidFill>
                <a:latin typeface="BIZ UDGothic"/>
                <a:ea typeface="BIZ UDGothic"/>
                <a:cs typeface="BIZ UDGothic"/>
              </a:rPr>
              <a:t>VAL角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BC21F69-A6C4-4E02-90A1-F214F4F89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4848225"/>
            <a:ext cx="2381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C4A4FF"/>
                </a:solidFill>
                <a:latin typeface="BIZ UDGothic"/>
                <a:ea typeface="BIZ UDGothic"/>
                <a:cs typeface="BIZ UDGothic"/>
              </a:defRPr>
            </a:pPr>
            <a:r>
              <a:rPr sz="1650" b="1">
                <a:solidFill>
                  <a:srgbClr val="C4A4FF"/>
                </a:solidFill>
                <a:latin typeface="BIZ UDGothic"/>
                <a:ea typeface="BIZ UDGothic"/>
                <a:cs typeface="BIZ UDGothic"/>
              </a:rPr>
              <a:t>PAP（投球時の回転軸）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100A966-8EB6-4DC1-944D-0C346C9CE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5695950"/>
            <a:ext cx="34766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F4F6F6"/>
                </a:solidFill>
                <a:latin typeface="BIZ UDGothic"/>
                <a:ea typeface="BIZ UDGothic"/>
                <a:cs typeface="BIZ UDGothic"/>
              </a:defRPr>
            </a:pPr>
            <a:r>
              <a:rPr sz="1650" b="0">
                <a:solidFill>
                  <a:srgbClr val="F4F6F6"/>
                </a:solidFill>
                <a:latin typeface="BIZ UDGothic"/>
                <a:ea typeface="BIZ UDGothic"/>
                <a:cs typeface="BIZ UDGothic"/>
              </a:rPr>
              <a:t>マスバイアスマーク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483E558-E2E4-4BF1-A0FF-7EA5E6247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1800225"/>
            <a:ext cx="23050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F4F6F6"/>
                </a:solidFill>
                <a:latin typeface="BIZ UDGothic"/>
                <a:ea typeface="BIZ UDGothic"/>
                <a:cs typeface="BIZ UDGothic"/>
              </a:defRPr>
            </a:pPr>
            <a:r>
              <a:rPr sz="1725" b="0">
                <a:solidFill>
                  <a:srgbClr val="F4F6F6"/>
                </a:solidFill>
                <a:latin typeface="BIZ UDGothic"/>
                <a:ea typeface="BIZ UDGothic"/>
                <a:cs typeface="BIZ UDGothic"/>
              </a:rPr>
              <a:t>垂直軸線（VAL）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663A9FE-DE4B-44FD-87F0-A213C6A25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9525" y="2066925"/>
            <a:ext cx="39528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FB66F"/>
                </a:solidFill>
                <a:latin typeface="BIZ UDGothic"/>
                <a:ea typeface="BIZ UDGothic"/>
                <a:cs typeface="BIZ UDGothic"/>
              </a:defRPr>
            </a:pPr>
            <a:r>
              <a:rPr sz="2250" b="1">
                <a:solidFill>
                  <a:srgbClr val="FFB66F"/>
                </a:solidFill>
                <a:latin typeface="BIZ UDGothic"/>
                <a:ea typeface="BIZ UDGothic"/>
                <a:cs typeface="BIZ UDGothic"/>
              </a:rPr>
              <a:t>ドリルアングル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19960E3-88F4-40B7-8F1A-81B5753F0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9525" y="2562225"/>
            <a:ext cx="39528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F4F6F6"/>
                </a:solidFill>
                <a:latin typeface="BIZ UDGothic"/>
                <a:ea typeface="BIZ UDGothic"/>
                <a:cs typeface="BIZ UDGothic"/>
              </a:defRPr>
            </a:pPr>
            <a:r>
              <a:rPr sz="1875" b="0">
                <a:solidFill>
                  <a:srgbClr val="F4F6F6"/>
                </a:solidFill>
                <a:latin typeface="BIZ UDGothic"/>
                <a:ea typeface="BIZ UDGothic"/>
                <a:cs typeface="BIZ UDGothic"/>
              </a:rPr>
              <a:t>ピン–マスバイアス線と</a:t>
            </a:r>
          </a:p>
          <a:p xmlns:a="http://schemas.openxmlformats.org/drawingml/2006/main">
            <a:pPr>
              <a:defRPr sz="1875" b="0">
                <a:solidFill>
                  <a:srgbClr val="F4F6F6"/>
                </a:solidFill>
                <a:latin typeface="BIZ UDGothic"/>
                <a:ea typeface="BIZ UDGothic"/>
                <a:cs typeface="BIZ UDGothic"/>
              </a:defRPr>
            </a:pPr>
            <a:r>
              <a:rPr sz="1875" b="0">
                <a:solidFill>
                  <a:srgbClr val="F4F6F6"/>
                </a:solidFill>
                <a:latin typeface="BIZ UDGothic"/>
                <a:ea typeface="BIZ UDGothic"/>
                <a:cs typeface="BIZ UDGothic"/>
              </a:rPr>
              <a:t>ピン–PAP線が作る角度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27E8BB2-6FD9-4DDE-8D70-1D0D3B672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9525" y="3476625"/>
            <a:ext cx="3952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57D4CF"/>
                </a:solidFill>
                <a:latin typeface="BIZ UDGothic"/>
                <a:ea typeface="BIZ UDGothic"/>
                <a:cs typeface="BIZ UDGothic"/>
              </a:defRPr>
            </a:pPr>
            <a:r>
              <a:rPr sz="2100" b="1">
                <a:solidFill>
                  <a:srgbClr val="57D4CF"/>
                </a:solidFill>
                <a:latin typeface="BIZ UDGothic"/>
                <a:ea typeface="BIZ UDGothic"/>
                <a:cs typeface="BIZ UDGothic"/>
              </a:rPr>
              <a:t>ピンから回転軸までの距離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60348F8-DE5B-4309-AF59-7F836F7FE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9525" y="4000500"/>
            <a:ext cx="39528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F4F6F6"/>
                </a:solidFill>
                <a:latin typeface="BIZ UDGothic"/>
                <a:ea typeface="BIZ UDGothic"/>
                <a:cs typeface="BIZ UDGothic"/>
              </a:defRPr>
            </a:pPr>
            <a:r>
              <a:rPr sz="1875" b="0">
                <a:solidFill>
                  <a:srgbClr val="F4F6F6"/>
                </a:solidFill>
                <a:latin typeface="BIZ UDGothic"/>
                <a:ea typeface="BIZ UDGothic"/>
                <a:cs typeface="BIZ UDGothic"/>
              </a:rPr>
              <a:t>ボールの表面に沿って測る長さ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5DEDDDA-4529-4A41-81D9-13447B10A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9525" y="4810125"/>
            <a:ext cx="39528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C4A4FF"/>
                </a:solidFill>
                <a:latin typeface="BIZ UDGothic"/>
                <a:ea typeface="BIZ UDGothic"/>
                <a:cs typeface="BIZ UDGothic"/>
              </a:defRPr>
            </a:pPr>
            <a:r>
              <a:rPr sz="2250" b="1">
                <a:solidFill>
                  <a:srgbClr val="C4A4FF"/>
                </a:solidFill>
                <a:latin typeface="BIZ UDGothic"/>
                <a:ea typeface="BIZ UDGothic"/>
                <a:cs typeface="BIZ UDGothic"/>
              </a:rPr>
              <a:t>VAL角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5F59FD2-9848-4071-B334-B82A7F53C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9525" y="5295900"/>
            <a:ext cx="39528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F4F6F6"/>
                </a:solidFill>
                <a:latin typeface="BIZ UDGothic"/>
                <a:ea typeface="BIZ UDGothic"/>
                <a:cs typeface="BIZ UDGothic"/>
              </a:defRPr>
            </a:pPr>
            <a:r>
              <a:rPr sz="1800" b="0">
                <a:solidFill>
                  <a:srgbClr val="F4F6F6"/>
                </a:solidFill>
                <a:latin typeface="BIZ UDGothic"/>
                <a:ea typeface="BIZ UDGothic"/>
                <a:cs typeface="BIZ UDGothic"/>
              </a:rPr>
              <a:t>PAPを頂点とする、</a:t>
            </a:r>
          </a:p>
          <a:p xmlns:a="http://schemas.openxmlformats.org/drawingml/2006/main">
            <a:pPr>
              <a:defRPr sz="1800" b="0">
                <a:solidFill>
                  <a:srgbClr val="F4F6F6"/>
                </a:solidFill>
                <a:latin typeface="BIZ UDGothic"/>
                <a:ea typeface="BIZ UDGothic"/>
                <a:cs typeface="BIZ UDGothic"/>
              </a:defRPr>
            </a:pPr>
            <a:r>
              <a:rPr sz="1800" b="0">
                <a:solidFill>
                  <a:srgbClr val="F4F6F6"/>
                </a:solidFill>
                <a:latin typeface="BIZ UDGothic"/>
                <a:ea typeface="BIZ UDGothic"/>
                <a:cs typeface="BIZ UDGothic"/>
              </a:rPr>
              <a:t>ピン–PAP線と垂直軸線の角度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F066927-95B1-4987-9550-899617AF4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1057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A5B7C2"/>
                </a:solidFill>
                <a:latin typeface="BIZ UDGothic"/>
                <a:ea typeface="BIZ UDGothic"/>
                <a:cs typeface="BIZ UDGothic"/>
              </a:defRPr>
            </a:pPr>
            <a:r>
              <a:rPr sz="1500" b="0">
                <a:solidFill>
                  <a:srgbClr val="A5B7C2"/>
                </a:solidFill>
                <a:latin typeface="BIZ UDGothic"/>
                <a:ea typeface="BIZ UDGothic"/>
                <a:cs typeface="BIZ UDGothic"/>
              </a:rPr>
              <a:t>平面に整理した模式図です。実際の角度・距離は球面上で測ります。</a:t>
            </a:r>
          </a:p>
        </p:txBody>
      </p:sp>
    </p:spTree>
    <p:extLst>
      <p:ext uri="{BB962C8B-B14F-4D97-AF65-F5344CB8AC3E}">
        <p14:creationId xmlns:p14="http://schemas.microsoft.com/office/powerpoint/2010/main" val="119977078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7131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A4D6754-539A-4F51-8D76-8A2D6A486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7D4C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7D4CF"/>
                </a:solidFill>
                <a:latin typeface="Arial"/>
                <a:ea typeface="Arial"/>
                <a:cs typeface="Arial"/>
              </a:rPr>
              <a:t>DUAL ANGLE LAYOUT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9884C06-B98A-4320-9E90-F6393A3C5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23875"/>
            <a:ext cx="110299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F4F6F6"/>
                </a:solidFill>
                <a:latin typeface="Yu Gothic"/>
                <a:ea typeface="Yu Gothic"/>
                <a:cs typeface="Yu Gothic"/>
              </a:defRPr>
            </a:pPr>
            <a:r>
              <a:rPr sz="2925" b="1">
                <a:solidFill>
                  <a:srgbClr val="F4F6F6"/>
                </a:solidFill>
                <a:latin typeface="Yu Gothic"/>
                <a:ea typeface="Yu Gothic"/>
                <a:cs typeface="Yu Gothic"/>
              </a:rPr>
              <a:t>慣性半径と、２種類のディファレンシャル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77353A7-ED17-430B-915D-A675612F6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28725"/>
            <a:ext cx="1095375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A5B7C2"/>
                </a:solidFill>
                <a:latin typeface="BIZ UDGothic"/>
                <a:ea typeface="BIZ UDGothic"/>
                <a:cs typeface="BIZ UDGothic"/>
              </a:defRPr>
            </a:pPr>
            <a:r>
              <a:rPr sz="1800" b="0">
                <a:solidFill>
                  <a:srgbClr val="A5B7C2"/>
                </a:solidFill>
                <a:latin typeface="BIZ UDGothic"/>
                <a:ea typeface="BIZ UDGothic"/>
                <a:cs typeface="BIZ UDGothic"/>
              </a:rPr>
              <a:t>いずれも質量分布の指標。カタログの数値と、ドリル後の数値を区別します。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6C2487B-1E69-44A8-A75A-76942DA84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10325"/>
            <a:ext cx="38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A5B7C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A5B7C2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graphicFrame>
        <p:nvGraphicFramePr>
          <p:cNvPr id="12" name=""/>
          <p:cNvGraphicFramePr/>
          <p:nvPr/>
        </p:nvGraphicFramePr>
        <p:xfrm>
          <a:off xmlns:a="http://schemas.openxmlformats.org/drawingml/2006/main" x="609600" y="1981200"/>
          <a:ext xmlns:a="http://schemas.openxmlformats.org/drawingml/2006/main" cx="10972800" cy="33909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47975"/>
                <a:gridCol w="4076700"/>
                <a:gridCol w="4048125"/>
              </a:tblGrid>
              <a:tr h="84772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BIZ UDGothic"/>
                          <a:ea typeface="BIZ UDGothic"/>
                          <a:cs typeface="BIZ UDGothic"/>
                        </a:rPr>
                        <a:t>名称</a:t>
                      </a:r>
                    </a:p>
                  </a:txBody>
                  <a:tcPr marL="152400" marR="152400" marT="114300" marB="114300" anchor="ctr">
                    <a:solidFill>
                      <a:srgbClr val="1752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BIZ UDGothic"/>
                          <a:ea typeface="BIZ UDGothic"/>
                          <a:cs typeface="BIZ UDGothic"/>
                        </a:rPr>
                        <a:t>定義</a:t>
                      </a:r>
                    </a:p>
                  </a:txBody>
                  <a:tcPr marL="152400" marR="152400" marT="114300" marB="114300" anchor="ctr">
                    <a:solidFill>
                      <a:srgbClr val="1752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BIZ UDGothic"/>
                          <a:ea typeface="BIZ UDGothic"/>
                          <a:cs typeface="BIZ UDGothic"/>
                        </a:rPr>
                        <a:t>レイアウト選びとの関係</a:t>
                      </a:r>
                    </a:p>
                  </a:txBody>
                  <a:tcPr marL="152400" marR="152400" marT="114300" marB="114300" anchor="ctr">
                    <a:solidFill>
                      <a:srgbClr val="17525D"/>
                    </a:solidFill>
                  </a:tcPr>
                </a:tc>
              </a:tr>
              <a:tr h="84772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F4F6F6"/>
                          </a:solidFill>
                          <a:latin typeface="BIZ UDGothic"/>
                          <a:ea typeface="BIZ UDGothic"/>
                          <a:cs typeface="BIZ UDGothic"/>
                        </a:rPr>
                        <a:t>慣性半径（RG）</a:t>
                      </a:r>
                    </a:p>
                  </a:txBody>
                  <a:tcPr marL="152400" marR="152400" marT="114300" marB="114300" anchor="ctr">
                    <a:solidFill>
                      <a:srgbClr val="0E233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F4F6F6"/>
                          </a:solidFill>
                          <a:latin typeface="BIZ UDGothic"/>
                          <a:ea typeface="BIZ UDGothic"/>
                          <a:cs typeface="BIZ UDGothic"/>
                        </a:rPr>
                        <a:t>軸からの質量の広がりを表す</a:t>
                      </a:r>
                    </a:p>
                    <a:p>
                      <a:r>
                        <a:rPr sz="1725" b="0">
                          <a:solidFill>
                            <a:srgbClr val="F4F6F6"/>
                          </a:solidFill>
                          <a:latin typeface="BIZ UDGothic"/>
                          <a:ea typeface="BIZ UDGothic"/>
                          <a:cs typeface="BIZ UDGothic"/>
                        </a:rPr>
                        <a:t>カタログは通常、最小値</a:t>
                      </a:r>
                    </a:p>
                  </a:txBody>
                  <a:tcPr marL="152400" marR="152400" marT="114300" marB="114300" anchor="ctr">
                    <a:solidFill>
                      <a:srgbClr val="0E233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F4F6F6"/>
                          </a:solidFill>
                          <a:latin typeface="BIZ UDGothic"/>
                          <a:ea typeface="BIZ UDGothic"/>
                          <a:cs typeface="BIZ UDGothic"/>
                        </a:rPr>
                        <a:t>同じ重さ・同じトルクなら、</a:t>
                      </a:r>
                    </a:p>
                    <a:p>
                      <a:r>
                        <a:rPr sz="1725" b="0">
                          <a:solidFill>
                            <a:srgbClr val="F4F6F6"/>
                          </a:solidFill>
                          <a:latin typeface="BIZ UDGothic"/>
                          <a:ea typeface="BIZ UDGothic"/>
                          <a:cs typeface="BIZ UDGothic"/>
                        </a:rPr>
                        <a:t>小さいほど回転速度が変わりやすい</a:t>
                      </a:r>
                    </a:p>
                  </a:txBody>
                  <a:tcPr marL="152400" marR="152400" marT="114300" marB="114300" anchor="ctr">
                    <a:solidFill>
                      <a:srgbClr val="0E2331"/>
                    </a:solidFill>
                  </a:tcPr>
                </a:tc>
              </a:tr>
              <a:tr h="84772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F4F6F6"/>
                          </a:solidFill>
                          <a:latin typeface="BIZ UDGothic"/>
                          <a:ea typeface="BIZ UDGothic"/>
                          <a:cs typeface="BIZ UDGothic"/>
                        </a:rPr>
                        <a:t>総ディファレンシャル</a:t>
                      </a:r>
                    </a:p>
                    <a:p>
                      <a:r>
                        <a:rPr sz="1725" b="0">
                          <a:solidFill>
                            <a:srgbClr val="F4F6F6"/>
                          </a:solidFill>
                          <a:latin typeface="BIZ UDGothic"/>
                          <a:ea typeface="BIZ UDGothic"/>
                          <a:cs typeface="BIZ UDGothic"/>
                        </a:rPr>
                        <a:t>（RG差）</a:t>
                      </a:r>
                    </a:p>
                  </a:txBody>
                  <a:tcPr marL="152400" marR="152400" marT="114300" marB="114300" anchor="ctr">
                    <a:solidFill>
                      <a:srgbClr val="122B3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F4F6F6"/>
                          </a:solidFill>
                          <a:latin typeface="BIZ UDGothic"/>
                          <a:ea typeface="BIZ UDGothic"/>
                          <a:cs typeface="BIZ UDGothic"/>
                        </a:rPr>
                        <a:t>最大慣性半径 − 最小慣性半径</a:t>
                      </a:r>
                    </a:p>
                  </a:txBody>
                  <a:tcPr marL="152400" marR="152400" marT="114300" marB="114300" anchor="ctr">
                    <a:solidFill>
                      <a:srgbClr val="122B3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F4F6F6"/>
                          </a:solidFill>
                          <a:latin typeface="BIZ UDGothic"/>
                          <a:ea typeface="BIZ UDGothic"/>
                          <a:cs typeface="BIZ UDGothic"/>
                        </a:rPr>
                        <a:t>フレアの潜在量に関わる</a:t>
                      </a:r>
                    </a:p>
                    <a:p>
                      <a:r>
                        <a:rPr sz="1725" b="0">
                          <a:solidFill>
                            <a:srgbClr val="F4F6F6"/>
                          </a:solidFill>
                          <a:latin typeface="BIZ UDGothic"/>
                          <a:ea typeface="BIZ UDGothic"/>
                          <a:cs typeface="BIZ UDGothic"/>
                        </a:rPr>
                        <a:t>ピン–PAP距離で引き出し方を調整</a:t>
                      </a:r>
                    </a:p>
                  </a:txBody>
                  <a:tcPr marL="152400" marR="152400" marT="114300" marB="114300" anchor="ctr">
                    <a:solidFill>
                      <a:srgbClr val="122B39"/>
                    </a:solidFill>
                  </a:tcPr>
                </a:tc>
              </a:tr>
              <a:tr h="84772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F4F6F6"/>
                          </a:solidFill>
                          <a:latin typeface="BIZ UDGothic"/>
                          <a:ea typeface="BIZ UDGothic"/>
                          <a:cs typeface="BIZ UDGothic"/>
                        </a:rPr>
                        <a:t>中間ディファレンシャル</a:t>
                      </a:r>
                    </a:p>
                  </a:txBody>
                  <a:tcPr marL="152400" marR="152400" marT="114300" marB="114300" anchor="ctr">
                    <a:solidFill>
                      <a:srgbClr val="0E233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F4F6F6"/>
                          </a:solidFill>
                          <a:latin typeface="BIZ UDGothic"/>
                          <a:ea typeface="BIZ UDGothic"/>
                          <a:cs typeface="BIZ UDGothic"/>
                        </a:rPr>
                        <a:t>最大慣性半径 − 中間慣性半径</a:t>
                      </a:r>
                    </a:p>
                  </a:txBody>
                  <a:tcPr marL="152400" marR="152400" marT="114300" marB="114300" anchor="ctr">
                    <a:solidFill>
                      <a:srgbClr val="0E233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F4F6F6"/>
                          </a:solidFill>
                          <a:latin typeface="BIZ UDGothic"/>
                          <a:ea typeface="BIZ UDGothic"/>
                          <a:cs typeface="BIZ UDGothic"/>
                        </a:rPr>
                        <a:t>非対称性の大きさを表す</a:t>
                      </a:r>
                    </a:p>
                    <a:p>
                      <a:r>
                        <a:rPr sz="1725" b="0">
                          <a:solidFill>
                            <a:srgbClr val="F4F6F6"/>
                          </a:solidFill>
                          <a:latin typeface="BIZ UDGothic"/>
                          <a:ea typeface="BIZ UDGothic"/>
                          <a:cs typeface="BIZ UDGothic"/>
                        </a:rPr>
                        <a:t>優先スピン軸の配置と併せて考える</a:t>
                      </a:r>
                    </a:p>
                  </a:txBody>
                  <a:tcPr marL="152400" marR="152400" marT="114300" marB="114300" anchor="ctr">
                    <a:solidFill>
                      <a:srgbClr val="0E2331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976C727-5CD5-47C6-9935-CFAFDD637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91175"/>
            <a:ext cx="10972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C4A4FF"/>
                </a:solidFill>
                <a:latin typeface="BIZ UDGothic"/>
                <a:ea typeface="BIZ UDGothic"/>
                <a:cs typeface="BIZ UDGothic"/>
              </a:defRPr>
            </a:pPr>
            <a:r>
              <a:rPr sz="2175" b="1">
                <a:solidFill>
                  <a:srgbClr val="C4A4FF"/>
                </a:solidFill>
                <a:latin typeface="BIZ UDGothic"/>
                <a:ea typeface="BIZ UDGothic"/>
                <a:cs typeface="BIZ UDGothic"/>
              </a:rPr>
              <a:t>マスバイアスの「位置」と「数値」は、別の意味です。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884367B-C6FA-4EA7-B6C8-1AC16889E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24575"/>
            <a:ext cx="109728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A5B7C2"/>
                </a:solidFill>
                <a:latin typeface="BIZ UDGothic"/>
                <a:ea typeface="BIZ UDGothic"/>
                <a:cs typeface="BIZ UDGothic"/>
              </a:defRPr>
            </a:pPr>
            <a:r>
              <a:rPr sz="1425" b="0">
                <a:solidFill>
                  <a:srgbClr val="A5B7C2"/>
                </a:solidFill>
                <a:latin typeface="BIZ UDGothic"/>
                <a:ea typeface="BIZ UDGothic"/>
                <a:cs typeface="BIZ UDGothic"/>
              </a:rPr>
              <a:t>仕様表で「PSA」や「マスバイアス値」と表す数値は、通常、中間ディファレンシャルを指します。</a:t>
            </a:r>
          </a:p>
          <a:p xmlns:a="http://schemas.openxmlformats.org/drawingml/2006/main">
            <a:pPr>
              <a:defRPr sz="1425" b="0">
                <a:solidFill>
                  <a:srgbClr val="A5B7C2"/>
                </a:solidFill>
                <a:latin typeface="BIZ UDGothic"/>
                <a:ea typeface="BIZ UDGothic"/>
                <a:cs typeface="BIZ UDGothic"/>
              </a:defRPr>
            </a:pPr>
            <a:r>
              <a:rPr sz="1425" b="0">
                <a:solidFill>
                  <a:srgbClr val="A5B7C2"/>
                </a:solidFill>
                <a:latin typeface="BIZ UDGothic"/>
                <a:ea typeface="BIZ UDGothic"/>
                <a:cs typeface="BIZ UDGothic"/>
              </a:rPr>
              <a:t>理想的な対称コアでは中間ディファレンシャルは0。ドリルで非対称性が生じます。</a:t>
            </a:r>
          </a:p>
        </p:txBody>
      </p:sp>
    </p:spTree>
    <p:extLst>
      <p:ext uri="{BB962C8B-B14F-4D97-AF65-F5344CB8AC3E}">
        <p14:creationId xmlns:p14="http://schemas.microsoft.com/office/powerpoint/2010/main" val="72251868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7131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6E1928F-1F78-4203-AFB6-D78307C77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7D4C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7D4CF"/>
                </a:solidFill>
                <a:latin typeface="Arial"/>
                <a:ea typeface="Arial"/>
                <a:cs typeface="Arial"/>
              </a:rPr>
              <a:t>DUAL ANGLE LAYOUT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06EC39B-3D01-466D-BC61-8F26EEB0E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23875"/>
            <a:ext cx="110299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F4F6F6"/>
                </a:solidFill>
                <a:latin typeface="Yu Gothic"/>
                <a:ea typeface="Yu Gothic"/>
                <a:cs typeface="Yu Gothic"/>
              </a:defRPr>
            </a:pPr>
            <a:r>
              <a:rPr sz="2925" b="1">
                <a:solidFill>
                  <a:srgbClr val="F4F6F6"/>
                </a:solidFill>
                <a:latin typeface="Yu Gothic"/>
                <a:ea typeface="Yu Gothic"/>
                <a:cs typeface="Yu Gothic"/>
              </a:rPr>
              <a:t>フレアは、オイルリングの広がりで確認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5020A0E-21B3-478E-BA25-425EBA287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28725"/>
            <a:ext cx="1095375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A5B7C2"/>
                </a:solidFill>
                <a:latin typeface="BIZ UDGothic"/>
                <a:ea typeface="BIZ UDGothic"/>
                <a:cs typeface="BIZ UDGothic"/>
              </a:defRPr>
            </a:pPr>
            <a:r>
              <a:rPr sz="1800" b="0">
                <a:solidFill>
                  <a:srgbClr val="A5B7C2"/>
                </a:solidFill>
                <a:latin typeface="BIZ UDGothic"/>
                <a:ea typeface="BIZ UDGothic"/>
                <a:cs typeface="BIZ UDGothic"/>
              </a:rPr>
              <a:t>回転しながら接地する場所がずれると、複数のオイルリングが残ります。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7A6F34D-EF21-428B-B680-179624034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10325"/>
            <a:ext cx="38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A5B7C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A5B7C2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ce61dc8d3ed4363"/>
          <a:stretch xmlns:a="http://schemas.openxmlformats.org/drawingml/2006/main"/>
        </p:blipFill>
        <p:spPr>
          <a:xfrm xmlns:a="http://schemas.openxmlformats.org/drawingml/2006/main">
            <a:off x="3295650" y="1647825"/>
            <a:ext cx="5572125" cy="371475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FC159E5-BD49-48E8-A853-D7E0F75DA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5324475"/>
            <a:ext cx="295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57D4CF"/>
                </a:solidFill>
                <a:latin typeface="BIZ UDGothic"/>
                <a:ea typeface="BIZ UDGothic"/>
                <a:cs typeface="BIZ UDGothic"/>
              </a:defRPr>
            </a:pPr>
            <a:r>
              <a:rPr sz="2250" b="1">
                <a:solidFill>
                  <a:srgbClr val="57D4CF"/>
                </a:solidFill>
                <a:latin typeface="BIZ UDGothic"/>
                <a:ea typeface="BIZ UDGothic"/>
                <a:cs typeface="BIZ UDGothic"/>
              </a:rPr>
              <a:t>フレアが小さい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2671AA7-38D3-4E30-9BC7-74C0B819E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5324475"/>
            <a:ext cx="295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57D4CF"/>
                </a:solidFill>
                <a:latin typeface="BIZ UDGothic"/>
                <a:ea typeface="BIZ UDGothic"/>
                <a:cs typeface="BIZ UDGothic"/>
              </a:defRPr>
            </a:pPr>
            <a:r>
              <a:rPr sz="2250" b="1">
                <a:solidFill>
                  <a:srgbClr val="57D4CF"/>
                </a:solidFill>
                <a:latin typeface="BIZ UDGothic"/>
                <a:ea typeface="BIZ UDGothic"/>
                <a:cs typeface="BIZ UDGothic"/>
              </a:rPr>
              <a:t>フレアが大きい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3B0D43C-C63B-4262-B442-C84FF71A2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" y="5895975"/>
            <a:ext cx="1000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F4F6F6"/>
                </a:solidFill>
                <a:latin typeface="BIZ UDGothic"/>
                <a:ea typeface="BIZ UDGothic"/>
                <a:cs typeface="BIZ UDGothic"/>
              </a:defRPr>
            </a:pPr>
            <a:r>
              <a:rPr sz="1875" b="0">
                <a:solidFill>
                  <a:srgbClr val="F4F6F6"/>
                </a:solidFill>
                <a:latin typeface="BIZ UDGothic"/>
                <a:ea typeface="BIZ UDGothic"/>
                <a:cs typeface="BIZ UDGothic"/>
              </a:rPr>
              <a:t>油の付いていない面がレーンに触れることで、摩擦を得やすくなります。</a:t>
            </a:r>
          </a:p>
        </p:txBody>
      </p:sp>
    </p:spTree>
    <p:extLst>
      <p:ext uri="{BB962C8B-B14F-4D97-AF65-F5344CB8AC3E}">
        <p14:creationId xmlns:p14="http://schemas.microsoft.com/office/powerpoint/2010/main" val="92663391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7131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33ECD74-0D0B-4F13-8F40-B9C1C3748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7D4C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7D4CF"/>
                </a:solidFill>
                <a:latin typeface="Arial"/>
                <a:ea typeface="Arial"/>
                <a:cs typeface="Arial"/>
              </a:rPr>
              <a:t>DUAL ANGLE LAYOUT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D6B4830-5B36-4498-B06C-ADE01AB0E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23875"/>
            <a:ext cx="110299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F4F6F6"/>
                </a:solidFill>
                <a:latin typeface="Yu Gothic"/>
                <a:ea typeface="Yu Gothic"/>
                <a:cs typeface="Yu Gothic"/>
              </a:defRPr>
            </a:pPr>
            <a:r>
              <a:rPr sz="2925" b="1">
                <a:solidFill>
                  <a:srgbClr val="F4F6F6"/>
                </a:solidFill>
                <a:latin typeface="Yu Gothic"/>
                <a:ea typeface="Yu Gothic"/>
                <a:cs typeface="Yu Gothic"/>
              </a:rPr>
              <a:t>ピンからの距離で、コアの傾きが変わる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781380D-E80B-45AB-8637-A7FB61D38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28725"/>
            <a:ext cx="1095375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A5B7C2"/>
                </a:solidFill>
                <a:latin typeface="BIZ UDGothic"/>
                <a:ea typeface="BIZ UDGothic"/>
                <a:cs typeface="BIZ UDGothic"/>
              </a:defRPr>
            </a:pPr>
            <a:r>
              <a:rPr sz="1800" b="0">
                <a:solidFill>
                  <a:srgbClr val="A5B7C2"/>
                </a:solidFill>
                <a:latin typeface="BIZ UDGothic"/>
                <a:ea typeface="BIZ UDGothic"/>
                <a:cs typeface="BIZ UDGothic"/>
              </a:rPr>
              <a:t>対称コアの基本傾向。短い側と長い側は、どちらもフレアを抑える使い方があります。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393B7B7-5B30-4AB3-BEC1-C34FD3E19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10325"/>
            <a:ext cx="38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A5B7C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A5B7C2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2b6fd3c2cb145a2"/>
          <a:stretch xmlns:a="http://schemas.openxmlformats.org/drawingml/2006/main"/>
        </p:blipFill>
        <p:spPr>
          <a:xfrm xmlns:a="http://schemas.openxmlformats.org/drawingml/2006/main">
            <a:off x="1081088" y="2085975"/>
            <a:ext cx="10029825" cy="3343275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0E20691-AA18-4821-835C-4E2BB1E67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81175"/>
            <a:ext cx="30670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57D4CF"/>
                </a:solidFill>
                <a:latin typeface="BIZ UDGothic"/>
                <a:ea typeface="BIZ UDGothic"/>
                <a:cs typeface="BIZ UDGothic"/>
              </a:defRPr>
            </a:pPr>
            <a:r>
              <a:rPr sz="2175" b="1">
                <a:solidFill>
                  <a:srgbClr val="57D4CF"/>
                </a:solidFill>
                <a:latin typeface="BIZ UDGothic"/>
                <a:ea typeface="BIZ UDGothic"/>
                <a:cs typeface="BIZ UDGothic"/>
              </a:rPr>
              <a:t>短い距離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98B4FA3-61E1-49FC-AA7F-294374D79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1781175"/>
            <a:ext cx="30670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57D4CF"/>
                </a:solidFill>
                <a:latin typeface="BIZ UDGothic"/>
                <a:ea typeface="BIZ UDGothic"/>
                <a:cs typeface="BIZ UDGothic"/>
              </a:defRPr>
            </a:pPr>
            <a:r>
              <a:rPr sz="2175" b="1">
                <a:solidFill>
                  <a:srgbClr val="57D4CF"/>
                </a:solidFill>
                <a:latin typeface="BIZ UDGothic"/>
                <a:ea typeface="BIZ UDGothic"/>
                <a:cs typeface="BIZ UDGothic"/>
              </a:rPr>
              <a:t>中間の距離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D450A56-CEAC-4F9B-AD63-2BCFABF19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1781175"/>
            <a:ext cx="30670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57D4CF"/>
                </a:solidFill>
                <a:latin typeface="BIZ UDGothic"/>
                <a:ea typeface="BIZ UDGothic"/>
                <a:cs typeface="BIZ UDGothic"/>
              </a:defRPr>
            </a:pPr>
            <a:r>
              <a:rPr sz="2175" b="1">
                <a:solidFill>
                  <a:srgbClr val="57D4CF"/>
                </a:solidFill>
                <a:latin typeface="BIZ UDGothic"/>
                <a:ea typeface="BIZ UDGothic"/>
                <a:cs typeface="BIZ UDGothic"/>
              </a:rPr>
              <a:t>長い距離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C97E9F3-DDBC-46FB-9BC9-C8F272107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076825"/>
            <a:ext cx="3238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57D4CF"/>
                </a:solidFill>
                <a:latin typeface="BIZ UDGothic"/>
                <a:ea typeface="BIZ UDGothic"/>
                <a:cs typeface="BIZ UDGothic"/>
              </a:defRPr>
            </a:pPr>
            <a:r>
              <a:rPr sz="2325" b="1">
                <a:solidFill>
                  <a:srgbClr val="57D4CF"/>
                </a:solidFill>
                <a:latin typeface="BIZ UDGothic"/>
                <a:ea typeface="BIZ UDGothic"/>
                <a:cs typeface="BIZ UDGothic"/>
              </a:rPr>
              <a:t>例：2″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8087F87-9410-44D7-83F5-D7551F4C0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5076825"/>
            <a:ext cx="3238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57D4CF"/>
                </a:solidFill>
                <a:latin typeface="BIZ UDGothic"/>
                <a:ea typeface="BIZ UDGothic"/>
                <a:cs typeface="BIZ UDGothic"/>
              </a:defRPr>
            </a:pPr>
            <a:r>
              <a:rPr sz="2325" b="1">
                <a:solidFill>
                  <a:srgbClr val="57D4CF"/>
                </a:solidFill>
                <a:latin typeface="BIZ UDGothic"/>
                <a:ea typeface="BIZ UDGothic"/>
                <a:cs typeface="BIZ UDGothic"/>
              </a:rPr>
              <a:t>3 3/8″付近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7DA75E0-7E80-4D6F-8E71-7D49813D4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5076825"/>
            <a:ext cx="3238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57D4CF"/>
                </a:solidFill>
                <a:latin typeface="BIZ UDGothic"/>
                <a:ea typeface="BIZ UDGothic"/>
                <a:cs typeface="BIZ UDGothic"/>
              </a:defRPr>
            </a:pPr>
            <a:r>
              <a:rPr sz="2325" b="1">
                <a:solidFill>
                  <a:srgbClr val="57D4CF"/>
                </a:solidFill>
                <a:latin typeface="BIZ UDGothic"/>
                <a:ea typeface="BIZ UDGothic"/>
                <a:cs typeface="BIZ UDGothic"/>
              </a:rPr>
              <a:t>例：5 1/2″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E7A9AE5-29E3-4070-B237-180671B42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619750"/>
            <a:ext cx="32385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F4F6F6"/>
                </a:solidFill>
                <a:latin typeface="BIZ UDGothic"/>
                <a:ea typeface="BIZ UDGothic"/>
                <a:cs typeface="BIZ UDGothic"/>
              </a:defRPr>
            </a:pPr>
            <a:r>
              <a:rPr sz="1800" b="0">
                <a:solidFill>
                  <a:srgbClr val="F4F6F6"/>
                </a:solidFill>
                <a:latin typeface="BIZ UDGothic"/>
                <a:ea typeface="BIZ UDGothic"/>
                <a:cs typeface="BIZ UDGothic"/>
              </a:rPr>
              <a:t>フレアを抑える候補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CAC0565-C590-4F65-AED4-4F11ADD16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5619750"/>
            <a:ext cx="32385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F4F6F6"/>
                </a:solidFill>
                <a:latin typeface="BIZ UDGothic"/>
                <a:ea typeface="BIZ UDGothic"/>
                <a:cs typeface="BIZ UDGothic"/>
              </a:defRPr>
            </a:pPr>
            <a:r>
              <a:rPr sz="1800" b="0">
                <a:solidFill>
                  <a:srgbClr val="F4F6F6"/>
                </a:solidFill>
                <a:latin typeface="BIZ UDGothic"/>
                <a:ea typeface="BIZ UDGothic"/>
                <a:cs typeface="BIZ UDGothic"/>
              </a:rPr>
              <a:t>フレアが大きくなりやすい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24F838D-CFD6-41E1-8AB2-24FC00020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5619750"/>
            <a:ext cx="32385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F4F6F6"/>
                </a:solidFill>
                <a:latin typeface="BIZ UDGothic"/>
                <a:ea typeface="BIZ UDGothic"/>
                <a:cs typeface="BIZ UDGothic"/>
              </a:defRPr>
            </a:pPr>
            <a:r>
              <a:rPr sz="1800" b="0">
                <a:solidFill>
                  <a:srgbClr val="F4F6F6"/>
                </a:solidFill>
                <a:latin typeface="BIZ UDGothic"/>
                <a:ea typeface="BIZ UDGothic"/>
                <a:cs typeface="BIZ UDGothic"/>
              </a:rPr>
              <a:t>フレアを抑え、走りを狙う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FB8568A-A533-4758-872E-C03811F0D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2935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A5B7C2"/>
                </a:solidFill>
                <a:latin typeface="BIZ UDGothic"/>
                <a:ea typeface="BIZ UDGothic"/>
                <a:cs typeface="BIZ UDGothic"/>
              </a:defRPr>
            </a:pPr>
            <a:r>
              <a:rPr sz="1425" b="0">
                <a:solidFill>
                  <a:srgbClr val="A5B7C2"/>
                </a:solidFill>
                <a:latin typeface="BIZ UDGothic"/>
                <a:ea typeface="BIZ UDGothic"/>
                <a:cs typeface="BIZ UDGothic"/>
              </a:rPr>
              <a:t>傾きと距離の関係を示す模式図。ドリル後の最大フレア位置は、コア形状や穴の条件で変わります。</a:t>
            </a:r>
          </a:p>
        </p:txBody>
      </p:sp>
    </p:spTree>
    <p:extLst>
      <p:ext uri="{BB962C8B-B14F-4D97-AF65-F5344CB8AC3E}">
        <p14:creationId xmlns:p14="http://schemas.microsoft.com/office/powerpoint/2010/main" val="108476895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7131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55E0C2B-5B19-43CB-815F-5B7809250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7D4C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7D4CF"/>
                </a:solidFill>
                <a:latin typeface="Arial"/>
                <a:ea typeface="Arial"/>
                <a:cs typeface="Arial"/>
              </a:rPr>
              <a:t>DUAL ANGLE LAYOUT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B9B3F36-386A-435B-852D-AC82E66A9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23875"/>
            <a:ext cx="110299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F4F6F6"/>
                </a:solidFill>
                <a:latin typeface="Yu Gothic"/>
                <a:ea typeface="Yu Gothic"/>
                <a:cs typeface="Yu Gothic"/>
              </a:defRPr>
            </a:pPr>
            <a:r>
              <a:rPr sz="2925" b="1">
                <a:solidFill>
                  <a:srgbClr val="F4F6F6"/>
                </a:solidFill>
                <a:latin typeface="Yu Gothic"/>
                <a:ea typeface="Yu Gothic"/>
                <a:cs typeface="Yu Gothic"/>
              </a:rPr>
              <a:t>ドリルアングルと非対称コアの向き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A74C579-010B-4B34-B40F-5BAE0CA1B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28725"/>
            <a:ext cx="1095375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A5B7C2"/>
                </a:solidFill>
                <a:latin typeface="BIZ UDGothic"/>
                <a:ea typeface="BIZ UDGothic"/>
                <a:cs typeface="BIZ UDGothic"/>
              </a:defRPr>
            </a:pPr>
            <a:r>
              <a:rPr sz="1800" b="0">
                <a:solidFill>
                  <a:srgbClr val="A5B7C2"/>
                </a:solidFill>
                <a:latin typeface="BIZ UDGothic"/>
                <a:ea typeface="BIZ UDGothic"/>
                <a:cs typeface="BIZ UDGothic"/>
              </a:rPr>
              <a:t>ピン–PAP距離4 1/2″、VAL角45°を固定した幾何学の比較。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09C90A9-25DE-4F00-9D4D-D407AA772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10325"/>
            <a:ext cx="38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A5B7C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A5B7C2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BD05132-09B5-4DB6-9009-3113CD2E5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0"/>
            <a:ext cx="51911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FB66F"/>
                </a:solidFill>
                <a:latin typeface="BIZ UDGothic"/>
                <a:ea typeface="BIZ UDGothic"/>
                <a:cs typeface="BIZ UDGothic"/>
              </a:defRPr>
            </a:pPr>
            <a:r>
              <a:rPr sz="2250" b="1">
                <a:solidFill>
                  <a:srgbClr val="FFB66F"/>
                </a:solidFill>
                <a:latin typeface="BIZ UDGothic"/>
                <a:ea typeface="BIZ UDGothic"/>
                <a:cs typeface="BIZ UDGothic"/>
              </a:rPr>
              <a:t>ドリルアングル 45°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6D79CEC-BBBA-4624-919A-437D17EE2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00375"/>
            <a:ext cx="5238750" cy="8358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4875" b="1">
                <a:solidFill>
                  <a:srgbClr val="57D4CF"/>
                </a:solidFill>
                <a:latin typeface="Arial"/>
                <a:ea typeface="Arial"/>
                <a:cs typeface="Arial"/>
              </a:defRPr>
            </a:pPr>
            <a:r>
              <a:rPr sz="4875" b="1">
                <a:solidFill>
                  <a:srgbClr val="57D4CF"/>
                </a:solidFill>
                <a:latin typeface="Arial"/>
                <a:ea typeface="Arial"/>
                <a:cs typeface="Arial"/>
              </a:rPr>
              <a:t>3 29/32″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90E947E-8F03-48B1-AECE-8E1C2A6D2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095500"/>
            <a:ext cx="5143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FB66F"/>
                </a:solidFill>
                <a:latin typeface="BIZ UDGothic"/>
                <a:ea typeface="BIZ UDGothic"/>
                <a:cs typeface="BIZ UDGothic"/>
              </a:defRPr>
            </a:pPr>
            <a:r>
              <a:rPr sz="2250" b="1">
                <a:solidFill>
                  <a:srgbClr val="FFB66F"/>
                </a:solidFill>
                <a:latin typeface="BIZ UDGothic"/>
                <a:ea typeface="BIZ UDGothic"/>
                <a:cs typeface="BIZ UDGothic"/>
              </a:rPr>
              <a:t>ドリルアングル 70°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D86F6E1-F17C-4820-851A-A1D770CC5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000375"/>
            <a:ext cx="5143500" cy="8358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4875" b="1">
                <a:solidFill>
                  <a:srgbClr val="57D4CF"/>
                </a:solidFill>
                <a:latin typeface="Arial"/>
                <a:ea typeface="Arial"/>
                <a:cs typeface="Arial"/>
              </a:defRPr>
            </a:pPr>
            <a:r>
              <a:rPr sz="4875" b="1">
                <a:solidFill>
                  <a:srgbClr val="57D4CF"/>
                </a:solidFill>
                <a:latin typeface="Arial"/>
                <a:ea typeface="Arial"/>
                <a:cs typeface="Arial"/>
              </a:rPr>
              <a:t>5 15/32″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A192A4E-3147-4399-90F9-F2D0CD217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43375"/>
            <a:ext cx="1047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F4F6F6"/>
                </a:solidFill>
                <a:latin typeface="BIZ UDGothic"/>
                <a:ea typeface="BIZ UDGothic"/>
                <a:cs typeface="BIZ UDGothic"/>
              </a:defRPr>
            </a:pPr>
            <a:r>
              <a:rPr sz="2175" b="0">
                <a:solidFill>
                  <a:srgbClr val="F4F6F6"/>
                </a:solidFill>
                <a:latin typeface="BIZ UDGothic"/>
                <a:ea typeface="BIZ UDGothic"/>
                <a:cs typeface="BIZ UDGothic"/>
              </a:rPr>
              <a:t>未ドリルのPSAからPAPまでの距離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85F0C86-63EE-41B0-AAD6-EBACEA00F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38725"/>
            <a:ext cx="108585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4F6F6"/>
                </a:solidFill>
                <a:latin typeface="BIZ UDGothic"/>
                <a:ea typeface="BIZ UDGothic"/>
                <a:cs typeface="BIZ UDGothic"/>
              </a:defRPr>
            </a:pPr>
            <a:r>
              <a:rPr sz="2100" b="0">
                <a:solidFill>
                  <a:srgbClr val="F4F6F6"/>
                </a:solidFill>
                <a:latin typeface="BIZ UDGothic"/>
                <a:ea typeface="BIZ UDGothic"/>
                <a:cs typeface="BIZ UDGothic"/>
              </a:rPr>
              <a:t>大きいドリルアングルは、走りを保つ候補として比較します。</a:t>
            </a:r>
          </a:p>
          <a:p xmlns:a="http://schemas.openxmlformats.org/drawingml/2006/main">
            <a:pPr>
              <a:defRPr sz="2100" b="0">
                <a:solidFill>
                  <a:srgbClr val="F4F6F6"/>
                </a:solidFill>
                <a:latin typeface="BIZ UDGothic"/>
                <a:ea typeface="BIZ UDGothic"/>
                <a:cs typeface="BIZ UDGothic"/>
              </a:defRPr>
            </a:pPr>
            <a:r>
              <a:rPr sz="2100" b="0">
                <a:solidFill>
                  <a:srgbClr val="F4F6F6"/>
                </a:solidFill>
                <a:latin typeface="BIZ UDGothic"/>
                <a:ea typeface="BIZ UDGothic"/>
                <a:cs typeface="BIZ UDGothic"/>
              </a:rPr>
              <a:t>対称球には、未ドリルで一意に定まるPSAがありません。</a:t>
            </a:r>
          </a:p>
        </p:txBody>
      </p:sp>
    </p:spTree>
    <p:extLst>
      <p:ext uri="{BB962C8B-B14F-4D97-AF65-F5344CB8AC3E}">
        <p14:creationId xmlns:p14="http://schemas.microsoft.com/office/powerpoint/2010/main" val="1808850231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7131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1714FFD-99D8-48DD-9548-BF9909263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7D4C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7D4CF"/>
                </a:solidFill>
                <a:latin typeface="Arial"/>
                <a:ea typeface="Arial"/>
                <a:cs typeface="Arial"/>
              </a:rPr>
              <a:t>DUAL ANGLE LAYOUT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E086A03-1CA6-45D4-891F-615429DCD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23875"/>
            <a:ext cx="110299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F4F6F6"/>
                </a:solidFill>
                <a:latin typeface="Yu Gothic"/>
                <a:ea typeface="Yu Gothic"/>
                <a:cs typeface="Yu Gothic"/>
              </a:defRPr>
            </a:pPr>
            <a:r>
              <a:rPr sz="2925" b="1">
                <a:solidFill>
                  <a:srgbClr val="F4F6F6"/>
                </a:solidFill>
                <a:latin typeface="Yu Gothic"/>
                <a:ea typeface="Yu Gothic"/>
                <a:cs typeface="Yu Gothic"/>
              </a:rPr>
              <a:t>VAL角が変える、コアと穴の位置関係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E8C80AA-BD7E-4FFE-BF7B-68A371B06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28725"/>
            <a:ext cx="1095375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A5B7C2"/>
                </a:solidFill>
                <a:latin typeface="BIZ UDGothic"/>
                <a:ea typeface="BIZ UDGothic"/>
                <a:cs typeface="BIZ UDGothic"/>
              </a:defRPr>
            </a:pPr>
            <a:r>
              <a:rPr sz="1800" b="0">
                <a:solidFill>
                  <a:srgbClr val="A5B7C2"/>
                </a:solidFill>
                <a:latin typeface="BIZ UDGothic"/>
                <a:ea typeface="BIZ UDGothic"/>
                <a:cs typeface="BIZ UDGothic"/>
              </a:rPr>
              <a:t>ドリルアングルとピン–PAP距離を固定して考えます。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419B525-9819-4121-A17A-A278F770B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10325"/>
            <a:ext cx="38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A5B7C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A5B7C2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6c9f9a786654829"/>
          <a:stretch xmlns:a="http://schemas.openxmlformats.org/drawingml/2006/main"/>
        </p:blipFill>
        <p:spPr>
          <a:xfrm xmlns:a="http://schemas.openxmlformats.org/drawingml/2006/main">
            <a:off x="1085850" y="2057400"/>
            <a:ext cx="5286375" cy="352425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00408AC-05B2-4951-BEBB-E916D9703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2019300"/>
            <a:ext cx="4238625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57D4CF"/>
                </a:solidFill>
                <a:latin typeface="BIZ UDGothic"/>
                <a:ea typeface="BIZ UDGothic"/>
                <a:cs typeface="BIZ UDGothic"/>
              </a:defRPr>
            </a:pPr>
            <a:r>
              <a:rPr sz="2175" b="1">
                <a:solidFill>
                  <a:srgbClr val="57D4CF"/>
                </a:solidFill>
                <a:latin typeface="BIZ UDGothic"/>
                <a:ea typeface="BIZ UDGothic"/>
                <a:cs typeface="BIZ UDGothic"/>
              </a:rPr>
              <a:t>PAPに対する</a:t>
            </a:r>
          </a:p>
          <a:p xmlns:a="http://schemas.openxmlformats.org/drawingml/2006/main">
            <a:pPr>
              <a:defRPr sz="2175" b="1">
                <a:solidFill>
                  <a:srgbClr val="57D4CF"/>
                </a:solidFill>
                <a:latin typeface="BIZ UDGothic"/>
                <a:ea typeface="BIZ UDGothic"/>
                <a:cs typeface="BIZ UDGothic"/>
              </a:defRPr>
            </a:pPr>
            <a:r>
              <a:rPr sz="2175" b="1">
                <a:solidFill>
                  <a:srgbClr val="57D4CF"/>
                </a:solidFill>
                <a:latin typeface="BIZ UDGothic"/>
                <a:ea typeface="BIZ UDGothic"/>
                <a:cs typeface="BIZ UDGothic"/>
              </a:rPr>
              <a:t>未ドリルコアの向きは同じ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BA8D379-D87B-46E5-B058-F9FA702F3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3162300"/>
            <a:ext cx="4238625" cy="1562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F4F6F6"/>
                </a:solidFill>
                <a:latin typeface="BIZ UDGothic"/>
                <a:ea typeface="BIZ UDGothic"/>
                <a:cs typeface="BIZ UDGothic"/>
              </a:defRPr>
            </a:pPr>
            <a:r>
              <a:rPr sz="2025" b="0">
                <a:solidFill>
                  <a:srgbClr val="F4F6F6"/>
                </a:solidFill>
                <a:latin typeface="BIZ UDGothic"/>
                <a:ea typeface="BIZ UDGothic"/>
                <a:cs typeface="BIZ UDGothic"/>
              </a:rPr>
              <a:t>変わるのは、グリップの向き。</a:t>
            </a:r>
          </a:p>
          <a:p xmlns:a="http://schemas.openxmlformats.org/drawingml/2006/main">
            <a:pPr>
              <a:defRPr sz="2025" b="0">
                <a:solidFill>
                  <a:srgbClr val="F4F6F6"/>
                </a:solidFill>
                <a:latin typeface="BIZ UDGothic"/>
                <a:ea typeface="BIZ UDGothic"/>
                <a:cs typeface="BIZ UDGothic"/>
              </a:defRPr>
            </a:pPr>
            <a:r>
              <a:rPr sz="2025" b="0">
                <a:solidFill>
                  <a:srgbClr val="F4F6F6"/>
                </a:solidFill>
                <a:latin typeface="BIZ UDGothic"/>
                <a:ea typeface="BIZ UDGothic"/>
                <a:cs typeface="BIZ UDGothic"/>
              </a:rPr>
              <a:t>穴がコアを通る場所が変わり、</a:t>
            </a:r>
          </a:p>
          <a:p xmlns:a="http://schemas.openxmlformats.org/drawingml/2006/main">
            <a:pPr>
              <a:defRPr sz="2025" b="0">
                <a:solidFill>
                  <a:srgbClr val="F4F6F6"/>
                </a:solidFill>
                <a:latin typeface="BIZ UDGothic"/>
                <a:ea typeface="BIZ UDGothic"/>
                <a:cs typeface="BIZ UDGothic"/>
              </a:defRPr>
            </a:pPr>
            <a:r>
              <a:rPr sz="2025" b="0">
                <a:solidFill>
                  <a:srgbClr val="F4F6F6"/>
                </a:solidFill>
                <a:latin typeface="BIZ UDGothic"/>
                <a:ea typeface="BIZ UDGothic"/>
                <a:cs typeface="BIZ UDGothic"/>
              </a:rPr>
              <a:t>完成球のRG差も変わり得ます。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80BD1EC-13AC-4A05-BF8A-3210E5092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0"/>
            <a:ext cx="10953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C4A4FF"/>
                </a:solidFill>
                <a:latin typeface="BIZ UDGothic"/>
                <a:ea typeface="BIZ UDGothic"/>
                <a:cs typeface="BIZ UDGothic"/>
              </a:defRPr>
            </a:pPr>
            <a:r>
              <a:rPr sz="1800" b="1">
                <a:solidFill>
                  <a:srgbClr val="C4A4FF"/>
                </a:solidFill>
                <a:latin typeface="BIZ UDGothic"/>
                <a:ea typeface="BIZ UDGothic"/>
                <a:cs typeface="BIZ UDGothic"/>
              </a:rPr>
              <a:t>反応の目安</a:t>
            </a:r>
          </a:p>
          <a:p xmlns:a="http://schemas.openxmlformats.org/drawingml/2006/main">
            <a:pPr>
              <a:defRPr sz="1800" b="1">
                <a:solidFill>
                  <a:srgbClr val="C4A4FF"/>
                </a:solidFill>
                <a:latin typeface="BIZ UDGothic"/>
                <a:ea typeface="BIZ UDGothic"/>
                <a:cs typeface="BIZ UDGothic"/>
              </a:defRPr>
            </a:pPr>
            <a:r>
              <a:rPr sz="1800" b="1">
                <a:solidFill>
                  <a:srgbClr val="C4A4FF"/>
                </a:solidFill>
                <a:latin typeface="BIZ UDGothic"/>
                <a:ea typeface="BIZ UDGothic"/>
                <a:cs typeface="BIZ UDGothic"/>
              </a:rPr>
              <a:t>小さいVAL角：素早い向きの変化</a:t>
            </a:r>
          </a:p>
          <a:p xmlns:a="http://schemas.openxmlformats.org/drawingml/2006/main">
            <a:pPr>
              <a:defRPr sz="1800" b="1">
                <a:solidFill>
                  <a:srgbClr val="C4A4FF"/>
                </a:solidFill>
                <a:latin typeface="BIZ UDGothic"/>
                <a:ea typeface="BIZ UDGothic"/>
                <a:cs typeface="BIZ UDGothic"/>
              </a:defRPr>
            </a:pPr>
            <a:r>
              <a:rPr sz="1800" b="1">
                <a:solidFill>
                  <a:srgbClr val="C4A4FF"/>
                </a:solidFill>
                <a:latin typeface="BIZ UDGothic"/>
                <a:ea typeface="BIZ UDGothic"/>
                <a:cs typeface="BIZ UDGothic"/>
              </a:rPr>
              <a:t>大きいVAL角：穏やかな向きの変化</a:t>
            </a:r>
          </a:p>
        </p:txBody>
      </p:sp>
    </p:spTree>
    <p:extLst>
      <p:ext uri="{BB962C8B-B14F-4D97-AF65-F5344CB8AC3E}">
        <p14:creationId xmlns:p14="http://schemas.microsoft.com/office/powerpoint/2010/main" val="551121431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7131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FC2039B-67D0-436A-8CFC-F39B1712E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7D4C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7D4CF"/>
                </a:solidFill>
                <a:latin typeface="Arial"/>
                <a:ea typeface="Arial"/>
                <a:cs typeface="Arial"/>
              </a:rPr>
              <a:t>DUAL ANGLE LAYOUT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2740A7B-33EB-4332-895D-923CCAB09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23875"/>
            <a:ext cx="110299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F4F6F6"/>
                </a:solidFill>
                <a:latin typeface="Yu Gothic"/>
                <a:ea typeface="Yu Gothic"/>
                <a:cs typeface="Yu Gothic"/>
              </a:defRPr>
            </a:pPr>
            <a:r>
              <a:rPr sz="2925" b="1">
                <a:solidFill>
                  <a:srgbClr val="F4F6F6"/>
                </a:solidFill>
                <a:latin typeface="Yu Gothic"/>
                <a:ea typeface="Yu Gothic"/>
                <a:cs typeface="Yu Gothic"/>
              </a:rPr>
              <a:t>VAL角を広げると、ピンが基準線から離れる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A5CFFF6-D0EC-47B7-8F73-29F57DE90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28725"/>
            <a:ext cx="1095375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A5B7C2"/>
                </a:solidFill>
                <a:latin typeface="BIZ UDGothic"/>
                <a:ea typeface="BIZ UDGothic"/>
                <a:cs typeface="BIZ UDGothic"/>
              </a:defRPr>
            </a:pPr>
            <a:r>
              <a:rPr sz="1800" b="0">
                <a:solidFill>
                  <a:srgbClr val="A5B7C2"/>
                </a:solidFill>
                <a:latin typeface="BIZ UDGothic"/>
                <a:ea typeface="BIZ UDGothic"/>
                <a:cs typeface="BIZ UDGothic"/>
              </a:rPr>
              <a:t>ピンから回転軸までの距離を同じにした比較です。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3CCC808-3831-4542-B9E7-128072B86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10325"/>
            <a:ext cx="38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A5B7C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A5B7C2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fd0aa434e9f4446"/>
          <a:stretch xmlns:a="http://schemas.openxmlformats.org/drawingml/2006/main"/>
        </p:blipFill>
        <p:spPr>
          <a:xfrm xmlns:a="http://schemas.openxmlformats.org/drawingml/2006/main">
            <a:off x="1181100" y="1828800"/>
            <a:ext cx="6000750" cy="400050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59CC618-AE8B-4134-BDE0-209314D1F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1752600"/>
            <a:ext cx="3048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FFB66F"/>
                </a:solidFill>
                <a:latin typeface="BIZ UDGothic"/>
                <a:ea typeface="BIZ UDGothic"/>
                <a:cs typeface="BIZ UDGothic"/>
              </a:defRPr>
            </a:pPr>
            <a:r>
              <a:rPr sz="2175" b="1">
                <a:solidFill>
                  <a:srgbClr val="FFB66F"/>
                </a:solidFill>
                <a:latin typeface="BIZ UDGothic"/>
                <a:ea typeface="BIZ UDGothic"/>
                <a:cs typeface="BIZ UDGothic"/>
              </a:rPr>
              <a:t>小さいVAL角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299FC79-7315-4050-AED0-86E6398E1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752600"/>
            <a:ext cx="3048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C4A4FF"/>
                </a:solidFill>
                <a:latin typeface="BIZ UDGothic"/>
                <a:ea typeface="BIZ UDGothic"/>
                <a:cs typeface="BIZ UDGothic"/>
              </a:defRPr>
            </a:pPr>
            <a:r>
              <a:rPr sz="2175" b="1">
                <a:solidFill>
                  <a:srgbClr val="C4A4FF"/>
                </a:solidFill>
                <a:latin typeface="BIZ UDGothic"/>
                <a:ea typeface="BIZ UDGothic"/>
                <a:cs typeface="BIZ UDGothic"/>
              </a:rPr>
              <a:t>大きいVAL角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B6D9DD6-2F13-441E-9CAD-67EB1D1B5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" y="2714625"/>
            <a:ext cx="10191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B66F"/>
                </a:solidFill>
                <a:latin typeface="BIZ UDGothic"/>
                <a:ea typeface="BIZ UDGothic"/>
                <a:cs typeface="BIZ UDGothic"/>
              </a:defRPr>
            </a:pPr>
            <a:r>
              <a:rPr sz="1800" b="1">
                <a:solidFill>
                  <a:srgbClr val="FFB66F"/>
                </a:solidFill>
                <a:latin typeface="BIZ UDGothic"/>
                <a:ea typeface="BIZ UDGothic"/>
                <a:cs typeface="BIZ UDGothic"/>
              </a:rPr>
              <a:t>ピン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19C2FAE-1827-43A3-A46A-C76B24538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6725" y="3181350"/>
            <a:ext cx="10191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B66F"/>
                </a:solidFill>
                <a:latin typeface="BIZ UDGothic"/>
                <a:ea typeface="BIZ UDGothic"/>
                <a:cs typeface="BIZ UDGothic"/>
              </a:defRPr>
            </a:pPr>
            <a:r>
              <a:rPr sz="1800" b="1">
                <a:solidFill>
                  <a:srgbClr val="FFB66F"/>
                </a:solidFill>
                <a:latin typeface="BIZ UDGothic"/>
                <a:ea typeface="BIZ UDGothic"/>
                <a:cs typeface="BIZ UDGothic"/>
              </a:rPr>
              <a:t>ピン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882F3F9-53E7-4EF2-B301-7125FBBEC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5610225"/>
            <a:ext cx="3238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FFB66F"/>
                </a:solidFill>
                <a:latin typeface="BIZ UDGothic"/>
                <a:ea typeface="BIZ UDGothic"/>
                <a:cs typeface="BIZ UDGothic"/>
              </a:defRPr>
            </a:pPr>
            <a:r>
              <a:rPr sz="1875" b="1">
                <a:solidFill>
                  <a:srgbClr val="FFB66F"/>
                </a:solidFill>
                <a:latin typeface="BIZ UDGothic"/>
                <a:ea typeface="BIZ UDGothic"/>
                <a:cs typeface="BIZ UDGothic"/>
              </a:rPr>
              <a:t>ピンバッファは短い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60D74CA-D1C7-4D9D-AA6B-F50F32BEB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5610225"/>
            <a:ext cx="3238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C4A4FF"/>
                </a:solidFill>
                <a:latin typeface="BIZ UDGothic"/>
                <a:ea typeface="BIZ UDGothic"/>
                <a:cs typeface="BIZ UDGothic"/>
              </a:defRPr>
            </a:pPr>
            <a:r>
              <a:rPr sz="1875" b="1">
                <a:solidFill>
                  <a:srgbClr val="C4A4FF"/>
                </a:solidFill>
                <a:latin typeface="BIZ UDGothic"/>
                <a:ea typeface="BIZ UDGothic"/>
                <a:cs typeface="BIZ UDGothic"/>
              </a:rPr>
              <a:t>ピンバッファは長い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009944B-8192-48BD-99D4-2D592C160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162175"/>
            <a:ext cx="30480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F4F6F6"/>
                </a:solidFill>
                <a:latin typeface="BIZ UDGothic"/>
                <a:ea typeface="BIZ UDGothic"/>
                <a:cs typeface="BIZ UDGothic"/>
              </a:defRPr>
            </a:pPr>
            <a:r>
              <a:rPr sz="1875" b="1">
                <a:solidFill>
                  <a:srgbClr val="F4F6F6"/>
                </a:solidFill>
                <a:latin typeface="BIZ UDGothic"/>
                <a:ea typeface="BIZ UDGothic"/>
                <a:cs typeface="BIZ UDGothic"/>
              </a:rPr>
              <a:t>縦の線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3595BD0-2B11-4F21-8C1C-6F7787121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562225"/>
            <a:ext cx="304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F4F6F6"/>
                </a:solidFill>
                <a:latin typeface="BIZ UDGothic"/>
                <a:ea typeface="BIZ UDGothic"/>
                <a:cs typeface="BIZ UDGothic"/>
              </a:defRPr>
            </a:pPr>
            <a:r>
              <a:rPr sz="1875" b="0">
                <a:solidFill>
                  <a:srgbClr val="F4F6F6"/>
                </a:solidFill>
                <a:latin typeface="BIZ UDGothic"/>
                <a:ea typeface="BIZ UDGothic"/>
                <a:cs typeface="BIZ UDGothic"/>
              </a:rPr>
              <a:t>垂直軸線（VAL）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291B553-5767-4B9B-BCC0-5D27FF803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181350"/>
            <a:ext cx="30480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C4A4FF"/>
                </a:solidFill>
                <a:latin typeface="BIZ UDGothic"/>
                <a:ea typeface="BIZ UDGothic"/>
                <a:cs typeface="BIZ UDGothic"/>
              </a:defRPr>
            </a:pPr>
            <a:r>
              <a:rPr sz="1875" b="1">
                <a:solidFill>
                  <a:srgbClr val="C4A4FF"/>
                </a:solidFill>
                <a:latin typeface="BIZ UDGothic"/>
                <a:ea typeface="BIZ UDGothic"/>
                <a:cs typeface="BIZ UDGothic"/>
              </a:rPr>
              <a:t>紫の弧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1857FF8-0084-4548-8064-CF3BFD922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581400"/>
            <a:ext cx="304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F4F6F6"/>
                </a:solidFill>
                <a:latin typeface="BIZ UDGothic"/>
                <a:ea typeface="BIZ UDGothic"/>
                <a:cs typeface="BIZ UDGothic"/>
              </a:defRPr>
            </a:pPr>
            <a:r>
              <a:rPr sz="1875" b="0">
                <a:solidFill>
                  <a:srgbClr val="F4F6F6"/>
                </a:solidFill>
                <a:latin typeface="BIZ UDGothic"/>
                <a:ea typeface="BIZ UDGothic"/>
                <a:cs typeface="BIZ UDGothic"/>
              </a:rPr>
              <a:t>VAL角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2AD34C9-324A-4174-866F-42D93EA50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4200525"/>
            <a:ext cx="30480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F4F6F6"/>
                </a:solidFill>
                <a:latin typeface="BIZ UDGothic"/>
                <a:ea typeface="BIZ UDGothic"/>
                <a:cs typeface="BIZ UDGothic"/>
              </a:defRPr>
            </a:pPr>
            <a:r>
              <a:rPr sz="1875" b="1">
                <a:solidFill>
                  <a:srgbClr val="F4F6F6"/>
                </a:solidFill>
                <a:latin typeface="BIZ UDGothic"/>
                <a:ea typeface="BIZ UDGothic"/>
                <a:cs typeface="BIZ UDGothic"/>
              </a:rPr>
              <a:t>下の点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D6E5743-C4A9-4614-8186-11B2C6735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4600575"/>
            <a:ext cx="304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F4F6F6"/>
                </a:solidFill>
                <a:latin typeface="BIZ UDGothic"/>
                <a:ea typeface="BIZ UDGothic"/>
                <a:cs typeface="BIZ UDGothic"/>
              </a:defRPr>
            </a:pPr>
            <a:r>
              <a:rPr sz="1875" b="0">
                <a:solidFill>
                  <a:srgbClr val="F4F6F6"/>
                </a:solidFill>
                <a:latin typeface="BIZ UDGothic"/>
                <a:ea typeface="BIZ UDGothic"/>
                <a:cs typeface="BIZ UDGothic"/>
              </a:rPr>
              <a:t>PAP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AD8B3D0-8BDF-4FA8-AEBB-03F978FAC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81725"/>
            <a:ext cx="10972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A5B7C2"/>
                </a:solidFill>
                <a:latin typeface="BIZ UDGothic"/>
                <a:ea typeface="BIZ UDGothic"/>
                <a:cs typeface="BIZ UDGothic"/>
              </a:defRPr>
            </a:pPr>
            <a:r>
              <a:rPr sz="1575" b="0">
                <a:solidFill>
                  <a:srgbClr val="A5B7C2"/>
                </a:solidFill>
                <a:latin typeface="BIZ UDGothic"/>
                <a:ea typeface="BIZ UDGothic"/>
                <a:cs typeface="BIZ UDGothic"/>
              </a:rPr>
              <a:t>オレンジの点線がピンバッファ。ピンから基準線まで、表面に沿って測る最短距離です。</a:t>
            </a:r>
          </a:p>
        </p:txBody>
      </p:sp>
    </p:spTree>
    <p:extLst>
      <p:ext uri="{BB962C8B-B14F-4D97-AF65-F5344CB8AC3E}">
        <p14:creationId xmlns:p14="http://schemas.microsoft.com/office/powerpoint/2010/main" val="847912946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07131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4EF0D30-D0A8-485C-93EF-139B72A4D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7D4C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7D4CF"/>
                </a:solidFill>
                <a:latin typeface="Arial"/>
                <a:ea typeface="Arial"/>
                <a:cs typeface="Arial"/>
              </a:rPr>
              <a:t>DUAL ANGLE LAYOUT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72AAFBB-77BE-422A-8CDD-2F7BB5C3D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23875"/>
            <a:ext cx="110299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F4F6F6"/>
                </a:solidFill>
                <a:latin typeface="Yu Gothic"/>
                <a:ea typeface="Yu Gothic"/>
                <a:cs typeface="Yu Gothic"/>
              </a:defRPr>
            </a:pPr>
            <a:r>
              <a:rPr sz="2925" b="1">
                <a:solidFill>
                  <a:srgbClr val="F4F6F6"/>
                </a:solidFill>
                <a:latin typeface="Yu Gothic"/>
                <a:ea typeface="Yu Gothic"/>
                <a:cs typeface="Yu Gothic"/>
              </a:rPr>
              <a:t>VAL角とピンバッファの数値比較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224C9D1-151F-4756-9373-6CFBBCA03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28725"/>
            <a:ext cx="1095375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A5B7C2"/>
                </a:solidFill>
                <a:latin typeface="BIZ UDGothic"/>
                <a:ea typeface="BIZ UDGothic"/>
                <a:cs typeface="BIZ UDGothic"/>
              </a:defRPr>
            </a:pPr>
            <a:r>
              <a:rPr sz="1800" b="0">
                <a:solidFill>
                  <a:srgbClr val="A5B7C2"/>
                </a:solidFill>
                <a:latin typeface="BIZ UDGothic"/>
                <a:ea typeface="BIZ UDGothic"/>
                <a:cs typeface="BIZ UDGothic"/>
              </a:rPr>
              <a:t>ピン–PAP距離4 1/2″。棒の長さは球面上の距離を表します。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1B4CDD9-8A9A-48A8-80BB-DE9980CA3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10325"/>
            <a:ext cx="38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A5B7C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A5B7C2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graphicFrame>
        <p:nvGraphicFramePr>
          <p:cNvPr id="13" name="Chart"/>
          <p:cNvGraphicFramePr/>
          <p:nvPr/>
        </p:nvGraphicFramePr>
        <p:xfrm>
          <a:off xmlns:a="http://schemas.openxmlformats.org/drawingml/2006/main" x="609600" y="2190750"/>
          <a:ext xmlns:a="http://schemas.openxmlformats.org/drawingml/2006/main" cx="6858000" cy="33813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9ff35c147f39430e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2E93CF5-9BCF-4790-8537-EDDF648E3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895475"/>
            <a:ext cx="1905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C4A4FF"/>
                </a:solidFill>
                <a:latin typeface="BIZ UDGothic"/>
                <a:ea typeface="BIZ UDGothic"/>
                <a:cs typeface="BIZ UDGothic"/>
              </a:defRPr>
            </a:pPr>
            <a:r>
              <a:rPr sz="1725" b="1">
                <a:solidFill>
                  <a:srgbClr val="C4A4FF"/>
                </a:solidFill>
                <a:latin typeface="BIZ UDGothic"/>
                <a:ea typeface="BIZ UDGothic"/>
                <a:cs typeface="BIZ UDGothic"/>
              </a:rPr>
              <a:t>VAL角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3761BFA-6145-48EB-8EA3-58FE22C65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266950"/>
            <a:ext cx="34290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57D4CF"/>
                </a:solidFill>
                <a:latin typeface="BIZ UDGothic"/>
                <a:ea typeface="BIZ UDGothic"/>
                <a:cs typeface="BIZ UDGothic"/>
              </a:defRPr>
            </a:pPr>
            <a:r>
              <a:rPr sz="2175" b="1">
                <a:solidFill>
                  <a:srgbClr val="57D4CF"/>
                </a:solidFill>
                <a:latin typeface="BIZ UDGothic"/>
                <a:ea typeface="BIZ UDGothic"/>
                <a:cs typeface="BIZ UDGothic"/>
              </a:rPr>
              <a:t>30°   約1 15/16″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75" b="1">
                <a:solidFill>
                  <a:srgbClr val="57D4CF"/>
                </a:solidFill>
                <a:latin typeface="BIZ UDGothic"/>
                <a:ea typeface="BIZ UDGothic"/>
                <a:cs typeface="BIZ UDGothic"/>
              </a:defRPr>
            </a:pPr>
            <a:r>
              <a:rPr sz="2175" b="1">
                <a:solidFill>
                  <a:srgbClr val="57D4CF"/>
                </a:solidFill>
                <a:latin typeface="BIZ UDGothic"/>
                <a:ea typeface="BIZ UDGothic"/>
                <a:cs typeface="BIZ UDGothic"/>
              </a:rPr>
              <a:t>45°   約2 27/32″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75" b="1">
                <a:solidFill>
                  <a:srgbClr val="57D4CF"/>
                </a:solidFill>
                <a:latin typeface="BIZ UDGothic"/>
                <a:ea typeface="BIZ UDGothic"/>
                <a:cs typeface="BIZ UDGothic"/>
              </a:defRPr>
            </a:pPr>
            <a:r>
              <a:rPr sz="2175" b="1">
                <a:solidFill>
                  <a:srgbClr val="57D4CF"/>
                </a:solidFill>
                <a:latin typeface="BIZ UDGothic"/>
                <a:ea typeface="BIZ UDGothic"/>
                <a:cs typeface="BIZ UDGothic"/>
              </a:rPr>
              <a:t>60°   約3 21/32″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4AFF690-61E7-40AB-8AB0-F9062B02B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57875"/>
            <a:ext cx="10953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57D4CF"/>
                </a:solidFill>
                <a:latin typeface="BIZ UDGothic"/>
                <a:ea typeface="BIZ UDGothic"/>
                <a:cs typeface="BIZ UDGothic"/>
              </a:defRPr>
            </a:pPr>
            <a:r>
              <a:rPr sz="1725" b="1">
                <a:solidFill>
                  <a:srgbClr val="57D4CF"/>
                </a:solidFill>
                <a:latin typeface="BIZ UDGothic"/>
                <a:ea typeface="BIZ UDGothic"/>
                <a:cs typeface="BIZ UDGothic"/>
              </a:rPr>
              <a:t>VAL角だけでなく、ピン–PAP距離もピンバッファを変えます。</a:t>
            </a:r>
          </a:p>
        </p:txBody>
      </p:sp>
    </p:spTree>
    <p:extLst>
      <p:ext uri="{BB962C8B-B14F-4D97-AF65-F5344CB8AC3E}">
        <p14:creationId xmlns:p14="http://schemas.microsoft.com/office/powerpoint/2010/main" val="393214474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07131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6DFDC97-A01F-4FB2-9F33-406728E78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7D4C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7D4CF"/>
                </a:solidFill>
                <a:latin typeface="Arial"/>
                <a:ea typeface="Arial"/>
                <a:cs typeface="Arial"/>
              </a:rPr>
              <a:t>DUAL ANGLE LAYOUT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88F1E7E-677F-42CE-B35A-BB76EA71A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23875"/>
            <a:ext cx="110299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F4F6F6"/>
                </a:solidFill>
                <a:latin typeface="Yu Gothic"/>
                <a:ea typeface="Yu Gothic"/>
                <a:cs typeface="Yu Gothic"/>
              </a:defRPr>
            </a:pPr>
            <a:r>
              <a:rPr sz="2925" b="1">
                <a:solidFill>
                  <a:srgbClr val="F4F6F6"/>
                </a:solidFill>
                <a:latin typeface="Yu Gothic"/>
                <a:ea typeface="Yu Gothic"/>
                <a:cs typeface="Yu Gothic"/>
              </a:rPr>
              <a:t>２つの角度の合計と配分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91DD0ED-9D79-4547-B74A-5EA464238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28725"/>
            <a:ext cx="1095375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A5B7C2"/>
                </a:solidFill>
                <a:latin typeface="BIZ UDGothic"/>
                <a:ea typeface="BIZ UDGothic"/>
                <a:cs typeface="BIZ UDGothic"/>
              </a:defRPr>
            </a:pPr>
            <a:r>
              <a:rPr sz="1800" b="0">
                <a:solidFill>
                  <a:srgbClr val="A5B7C2"/>
                </a:solidFill>
                <a:latin typeface="BIZ UDGothic"/>
                <a:ea typeface="BIZ UDGothic"/>
                <a:cs typeface="BIZ UDGothic"/>
              </a:rPr>
              <a:t>同じ合計90°でも、コアとグリップの配置は異なります。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74B11E7-9920-497D-B186-0DAE90D40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10325"/>
            <a:ext cx="38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A5B7C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A5B7C2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CAC1A5D-CB61-42B0-BB7E-6F18FD5FD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76450"/>
            <a:ext cx="10858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57D4CF"/>
                </a:solidFill>
                <a:latin typeface="BIZ UDGothic"/>
                <a:ea typeface="BIZ UDGothic"/>
                <a:cs typeface="BIZ UDGothic"/>
              </a:defRPr>
            </a:pPr>
            <a:r>
              <a:rPr sz="2325" b="1">
                <a:solidFill>
                  <a:srgbClr val="57D4CF"/>
                </a:solidFill>
                <a:latin typeface="BIZ UDGothic"/>
                <a:ea typeface="BIZ UDGothic"/>
                <a:cs typeface="BIZ UDGothic"/>
              </a:rPr>
              <a:t>ミッドレーンから穏やかに向きを変える候補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2B45790-88BA-4E35-94F7-3E43AFFC2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0"/>
            <a:ext cx="1428750" cy="84867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4950" b="1">
                <a:solidFill>
                  <a:srgbClr val="FFB66F"/>
                </a:solidFill>
                <a:latin typeface="Arial"/>
                <a:ea typeface="Arial"/>
                <a:cs typeface="Arial"/>
              </a:defRPr>
            </a:pPr>
            <a:r>
              <a:rPr sz="4950" b="1">
                <a:solidFill>
                  <a:srgbClr val="FFB66F"/>
                </a:solidFill>
                <a:latin typeface="Arial"/>
                <a:ea typeface="Arial"/>
                <a:cs typeface="Arial"/>
              </a:rPr>
              <a:t>30°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621E760-CEEC-430E-BAD0-11AB3B342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1675" y="2828925"/>
            <a:ext cx="4191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A5B7C2"/>
                </a:solidFill>
                <a:latin typeface="BIZ UDGothic"/>
                <a:ea typeface="BIZ UDGothic"/>
                <a:cs typeface="BIZ UDGothic"/>
              </a:defRPr>
            </a:pPr>
            <a:r>
              <a:rPr sz="2400" b="0">
                <a:solidFill>
                  <a:srgbClr val="A5B7C2"/>
                </a:solidFill>
                <a:latin typeface="BIZ UDGothic"/>
                <a:ea typeface="BIZ UDGothic"/>
                <a:cs typeface="BIZ UDGothic"/>
              </a:rPr>
              <a:t>×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D1E1E36-1BDD-4EFC-ADE8-381EEF91E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2762250"/>
            <a:ext cx="2076450" cy="84867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4950" b="1">
                <a:solidFill>
                  <a:srgbClr val="57D4CF"/>
                </a:solidFill>
                <a:latin typeface="Arial"/>
                <a:ea typeface="Arial"/>
                <a:cs typeface="Arial"/>
              </a:defRPr>
            </a:pPr>
            <a:r>
              <a:rPr sz="4950" b="1">
                <a:solidFill>
                  <a:srgbClr val="57D4CF"/>
                </a:solidFill>
                <a:latin typeface="Arial"/>
                <a:ea typeface="Arial"/>
                <a:cs typeface="Arial"/>
              </a:rPr>
              <a:t>4″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233AE9B-EEF7-4820-9F0B-5460A7B7F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2828925"/>
            <a:ext cx="4191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A5B7C2"/>
                </a:solidFill>
                <a:latin typeface="BIZ UDGothic"/>
                <a:ea typeface="BIZ UDGothic"/>
                <a:cs typeface="BIZ UDGothic"/>
              </a:defRPr>
            </a:pPr>
            <a:r>
              <a:rPr sz="2400" b="0">
                <a:solidFill>
                  <a:srgbClr val="A5B7C2"/>
                </a:solidFill>
                <a:latin typeface="BIZ UDGothic"/>
                <a:ea typeface="BIZ UDGothic"/>
                <a:cs typeface="BIZ UDGothic"/>
              </a:rPr>
              <a:t>×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0E2B258-A11C-4F90-8E43-1566CF902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2762250"/>
            <a:ext cx="1524000" cy="84867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4950" b="1">
                <a:solidFill>
                  <a:srgbClr val="C4A4FF"/>
                </a:solidFill>
                <a:latin typeface="Arial"/>
                <a:ea typeface="Arial"/>
                <a:cs typeface="Arial"/>
              </a:defRPr>
            </a:pPr>
            <a:r>
              <a:rPr sz="4950" b="1">
                <a:solidFill>
                  <a:srgbClr val="C4A4FF"/>
                </a:solidFill>
                <a:latin typeface="Arial"/>
                <a:ea typeface="Arial"/>
                <a:cs typeface="Arial"/>
              </a:rPr>
              <a:t>60°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9EB877D-7AED-433C-A641-DD66D51A7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43375"/>
            <a:ext cx="10858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C4A4FF"/>
                </a:solidFill>
                <a:latin typeface="BIZ UDGothic"/>
                <a:ea typeface="BIZ UDGothic"/>
                <a:cs typeface="BIZ UDGothic"/>
              </a:defRPr>
            </a:pPr>
            <a:r>
              <a:rPr sz="2325" b="1">
                <a:solidFill>
                  <a:srgbClr val="C4A4FF"/>
                </a:solidFill>
                <a:latin typeface="BIZ UDGothic"/>
                <a:ea typeface="BIZ UDGothic"/>
                <a:cs typeface="BIZ UDGothic"/>
              </a:rPr>
              <a:t>走りを保ち、奥で向きを変える候補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10B06CA-672E-4814-B85B-7796C1CE2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29175"/>
            <a:ext cx="1428750" cy="84867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4950" b="1">
                <a:solidFill>
                  <a:srgbClr val="FFB66F"/>
                </a:solidFill>
                <a:latin typeface="Arial"/>
                <a:ea typeface="Arial"/>
                <a:cs typeface="Arial"/>
              </a:defRPr>
            </a:pPr>
            <a:r>
              <a:rPr sz="4950" b="1">
                <a:solidFill>
                  <a:srgbClr val="FFB66F"/>
                </a:solidFill>
                <a:latin typeface="Arial"/>
                <a:ea typeface="Arial"/>
                <a:cs typeface="Arial"/>
              </a:rPr>
              <a:t>60°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5D7FD25-3B25-4998-B10F-22376D662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1675" y="4895850"/>
            <a:ext cx="4191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A5B7C2"/>
                </a:solidFill>
                <a:latin typeface="BIZ UDGothic"/>
                <a:ea typeface="BIZ UDGothic"/>
                <a:cs typeface="BIZ UDGothic"/>
              </a:defRPr>
            </a:pPr>
            <a:r>
              <a:rPr sz="2400" b="0">
                <a:solidFill>
                  <a:srgbClr val="A5B7C2"/>
                </a:solidFill>
                <a:latin typeface="BIZ UDGothic"/>
                <a:ea typeface="BIZ UDGothic"/>
                <a:cs typeface="BIZ UDGothic"/>
              </a:rPr>
              <a:t>×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8242E75-80E0-492D-9827-ACF7BE31D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4829175"/>
            <a:ext cx="2076450" cy="84867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4950" b="1">
                <a:solidFill>
                  <a:srgbClr val="57D4CF"/>
                </a:solidFill>
                <a:latin typeface="Arial"/>
                <a:ea typeface="Arial"/>
                <a:cs typeface="Arial"/>
              </a:defRPr>
            </a:pPr>
            <a:r>
              <a:rPr sz="4950" b="1">
                <a:solidFill>
                  <a:srgbClr val="57D4CF"/>
                </a:solidFill>
                <a:latin typeface="Arial"/>
                <a:ea typeface="Arial"/>
                <a:cs typeface="Arial"/>
              </a:rPr>
              <a:t>4″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B4440DC-F2FE-49F5-8EAA-CC772A013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4895850"/>
            <a:ext cx="4191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A5B7C2"/>
                </a:solidFill>
                <a:latin typeface="BIZ UDGothic"/>
                <a:ea typeface="BIZ UDGothic"/>
                <a:cs typeface="BIZ UDGothic"/>
              </a:defRPr>
            </a:pPr>
            <a:r>
              <a:rPr sz="2400" b="0">
                <a:solidFill>
                  <a:srgbClr val="A5B7C2"/>
                </a:solidFill>
                <a:latin typeface="BIZ UDGothic"/>
                <a:ea typeface="BIZ UDGothic"/>
                <a:cs typeface="BIZ UDGothic"/>
              </a:rPr>
              <a:t>×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F372CEA-B435-41EB-A975-3D06D08B0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4829175"/>
            <a:ext cx="1524000" cy="84867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4950" b="1">
                <a:solidFill>
                  <a:srgbClr val="C4A4FF"/>
                </a:solidFill>
                <a:latin typeface="Arial"/>
                <a:ea typeface="Arial"/>
                <a:cs typeface="Arial"/>
              </a:defRPr>
            </a:pPr>
            <a:r>
              <a:rPr sz="4950" b="1">
                <a:solidFill>
                  <a:srgbClr val="C4A4FF"/>
                </a:solidFill>
                <a:latin typeface="Arial"/>
                <a:ea typeface="Arial"/>
                <a:cs typeface="Arial"/>
              </a:rPr>
              <a:t>30°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76C64E7-9CAC-4FEF-AC4C-4E7BDEE30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76950"/>
            <a:ext cx="108585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A5B7C2"/>
                </a:solidFill>
                <a:latin typeface="BIZ UDGothic"/>
                <a:ea typeface="BIZ UDGothic"/>
                <a:cs typeface="BIZ UDGothic"/>
              </a:defRPr>
            </a:pPr>
            <a:r>
              <a:rPr sz="1650" b="0">
                <a:solidFill>
                  <a:srgbClr val="A5B7C2"/>
                </a:solidFill>
                <a:latin typeface="BIZ UDGothic"/>
                <a:ea typeface="BIZ UDGothic"/>
                <a:cs typeface="BIZ UDGothic"/>
              </a:rPr>
              <a:t>非対称球での説明例。合計角は反応時間を表す単位ではなく、同じ合計なら同じ動きになるわけでもありません。</a:t>
            </a:r>
          </a:p>
        </p:txBody>
      </p:sp>
    </p:spTree>
    <p:extLst>
      <p:ext uri="{BB962C8B-B14F-4D97-AF65-F5344CB8AC3E}">
        <p14:creationId xmlns:p14="http://schemas.microsoft.com/office/powerpoint/2010/main" val="70123587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07131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9C277F1-45CB-4B1B-9BF0-59415FEF6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7D4C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7D4CF"/>
                </a:solidFill>
                <a:latin typeface="Arial"/>
                <a:ea typeface="Arial"/>
                <a:cs typeface="Arial"/>
              </a:rPr>
              <a:t>DUAL ANGLE LAYOUT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48034FC-F68C-423A-BA7D-A7858AAC0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23875"/>
            <a:ext cx="110299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F4F6F6"/>
                </a:solidFill>
                <a:latin typeface="Yu Gothic"/>
                <a:ea typeface="Yu Gothic"/>
                <a:cs typeface="Yu Gothic"/>
              </a:defRPr>
            </a:pPr>
            <a:r>
              <a:rPr sz="2925" b="1">
                <a:solidFill>
                  <a:srgbClr val="F4F6F6"/>
                </a:solidFill>
                <a:latin typeface="Yu Gothic"/>
                <a:ea typeface="Yu Gothic"/>
                <a:cs typeface="Yu Gothic"/>
              </a:rPr>
              <a:t>相談例：奥の切れ込みを穏やかにしたい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FEC99D9-2D61-4BD1-B212-6FC9F59D8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28725"/>
            <a:ext cx="1095375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A5B7C2"/>
                </a:solidFill>
                <a:latin typeface="BIZ UDGothic"/>
                <a:ea typeface="BIZ UDGothic"/>
                <a:cs typeface="BIZ UDGothic"/>
              </a:defRPr>
            </a:pPr>
            <a:r>
              <a:rPr sz="1800" b="0">
                <a:solidFill>
                  <a:srgbClr val="A5B7C2"/>
                </a:solidFill>
                <a:latin typeface="BIZ UDGothic"/>
                <a:ea typeface="BIZ UDGothic"/>
                <a:cs typeface="BIZ UDGothic"/>
              </a:rPr>
              <a:t>非対称球・親指穴あり。同じ製品・表面・PAP・グリップを想定した比較。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94ABF2D-07C8-436A-8BD4-C694AD11D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10325"/>
            <a:ext cx="38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A5B7C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A5B7C2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2E96965-B859-4B8C-B4F7-0FEA71773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143125"/>
            <a:ext cx="43338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C4A4FF"/>
                </a:solidFill>
                <a:latin typeface="BIZ UDGothic"/>
                <a:ea typeface="BIZ UDGothic"/>
                <a:cs typeface="BIZ UDGothic"/>
              </a:defRPr>
            </a:pPr>
            <a:r>
              <a:rPr sz="2175" b="1">
                <a:solidFill>
                  <a:srgbClr val="C4A4FF"/>
                </a:solidFill>
                <a:latin typeface="BIZ UDGothic"/>
                <a:ea typeface="BIZ UDGothic"/>
                <a:cs typeface="BIZ UDGothic"/>
              </a:rPr>
              <a:t>狙う変化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67FBB22-C02F-48B2-8CDD-F8F11E8FB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743200"/>
            <a:ext cx="4333875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F4F6F6"/>
                </a:solidFill>
                <a:latin typeface="BIZ UDGothic"/>
                <a:ea typeface="BIZ UDGothic"/>
                <a:cs typeface="BIZ UDGothic"/>
              </a:defRPr>
            </a:pPr>
            <a:r>
              <a:rPr sz="2325" b="0">
                <a:solidFill>
                  <a:srgbClr val="F4F6F6"/>
                </a:solidFill>
                <a:latin typeface="BIZ UDGothic"/>
                <a:ea typeface="BIZ UDGothic"/>
                <a:cs typeface="BIZ UDGothic"/>
              </a:rPr>
              <a:t>急な切れ込みを抑える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18F258B-51AD-4412-B6BB-521B084B9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914775"/>
            <a:ext cx="43338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57D4CF"/>
                </a:solidFill>
                <a:latin typeface="BIZ UDGothic"/>
                <a:ea typeface="BIZ UDGothic"/>
                <a:cs typeface="BIZ UDGothic"/>
              </a:defRPr>
            </a:pPr>
            <a:r>
              <a:rPr sz="2175" b="1">
                <a:solidFill>
                  <a:srgbClr val="57D4CF"/>
                </a:solidFill>
                <a:latin typeface="BIZ UDGothic"/>
                <a:ea typeface="BIZ UDGothic"/>
                <a:cs typeface="BIZ UDGothic"/>
              </a:rPr>
              <a:t>残したい動き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AE79118-CDCE-47F2-A27A-A03DA338A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4514850"/>
            <a:ext cx="4333875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F4F6F6"/>
                </a:solidFill>
                <a:latin typeface="BIZ UDGothic"/>
                <a:ea typeface="BIZ UDGothic"/>
                <a:cs typeface="BIZ UDGothic"/>
              </a:defRPr>
            </a:pPr>
            <a:r>
              <a:rPr sz="2325" b="0">
                <a:solidFill>
                  <a:srgbClr val="F4F6F6"/>
                </a:solidFill>
                <a:latin typeface="BIZ UDGothic"/>
                <a:ea typeface="BIZ UDGothic"/>
                <a:cs typeface="BIZ UDGothic"/>
              </a:rPr>
              <a:t>ポケットへ戻る動き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048C70E-BCB7-491D-8F22-11CF24959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33600"/>
            <a:ext cx="5619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A5B7C2"/>
                </a:solidFill>
                <a:latin typeface="BIZ UDGothic"/>
                <a:ea typeface="BIZ UDGothic"/>
                <a:cs typeface="BIZ UDGothic"/>
              </a:defRPr>
            </a:pPr>
            <a:r>
              <a:rPr sz="2025" b="0">
                <a:solidFill>
                  <a:srgbClr val="A5B7C2"/>
                </a:solidFill>
                <a:latin typeface="BIZ UDGothic"/>
                <a:ea typeface="BIZ UDGothic"/>
                <a:cs typeface="BIZ UDGothic"/>
              </a:rPr>
              <a:t>比較の基準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1EE6235-A30F-4D80-B536-1C57D5E36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05100"/>
            <a:ext cx="1428750" cy="5400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FFB66F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FFB66F"/>
                </a:solidFill>
                <a:latin typeface="Arial"/>
                <a:ea typeface="Arial"/>
                <a:cs typeface="Arial"/>
              </a:rPr>
              <a:t>45°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8A5A15E-5C08-41EE-B992-AC6049725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1675" y="2771775"/>
            <a:ext cx="4191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A5B7C2"/>
                </a:solidFill>
                <a:latin typeface="BIZ UDGothic"/>
                <a:ea typeface="BIZ UDGothic"/>
                <a:cs typeface="BIZ UDGothic"/>
              </a:defRPr>
            </a:pPr>
            <a:r>
              <a:rPr sz="2400" b="0">
                <a:solidFill>
                  <a:srgbClr val="A5B7C2"/>
                </a:solidFill>
                <a:latin typeface="BIZ UDGothic"/>
                <a:ea typeface="BIZ UDGothic"/>
                <a:cs typeface="BIZ UDGothic"/>
              </a:rPr>
              <a:t>×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0F63E1F-06B9-4A88-B922-D0769130C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2705100"/>
            <a:ext cx="2076450" cy="5400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57D4CF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57D4CF"/>
                </a:solidFill>
                <a:latin typeface="Arial"/>
                <a:ea typeface="Arial"/>
                <a:cs typeface="Arial"/>
              </a:rPr>
              <a:t>4 1/2″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CF524BD-3D6D-46C4-BFC3-EC3DA38E0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2771775"/>
            <a:ext cx="4191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A5B7C2"/>
                </a:solidFill>
                <a:latin typeface="BIZ UDGothic"/>
                <a:ea typeface="BIZ UDGothic"/>
                <a:cs typeface="BIZ UDGothic"/>
              </a:defRPr>
            </a:pPr>
            <a:r>
              <a:rPr sz="2400" b="0">
                <a:solidFill>
                  <a:srgbClr val="A5B7C2"/>
                </a:solidFill>
                <a:latin typeface="BIZ UDGothic"/>
                <a:ea typeface="BIZ UDGothic"/>
                <a:cs typeface="BIZ UDGothic"/>
              </a:rPr>
              <a:t>×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1CDDB9F-B131-4D63-8DBA-64FACC1F0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2705100"/>
            <a:ext cx="1524000" cy="5400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C4A4FF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C4A4FF"/>
                </a:solidFill>
                <a:latin typeface="Arial"/>
                <a:ea typeface="Arial"/>
                <a:cs typeface="Arial"/>
              </a:rPr>
              <a:t>45°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C87137B-37EB-43D3-A361-88C0BEA43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48100"/>
            <a:ext cx="5619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C4A4FF"/>
                </a:solidFill>
                <a:latin typeface="BIZ UDGothic"/>
                <a:ea typeface="BIZ UDGothic"/>
                <a:cs typeface="BIZ UDGothic"/>
              </a:defRPr>
            </a:pPr>
            <a:r>
              <a:rPr sz="2025" b="1">
                <a:solidFill>
                  <a:srgbClr val="C4A4FF"/>
                </a:solidFill>
                <a:latin typeface="BIZ UDGothic"/>
                <a:ea typeface="BIZ UDGothic"/>
                <a:cs typeface="BIZ UDGothic"/>
              </a:rPr>
              <a:t>VAL角を広げる候補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3FB28DD-1EE4-47B0-ADE7-A83421DDF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00550"/>
            <a:ext cx="1428750" cy="5400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FFB66F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FFB66F"/>
                </a:solidFill>
                <a:latin typeface="Arial"/>
                <a:ea typeface="Arial"/>
                <a:cs typeface="Arial"/>
              </a:rPr>
              <a:t>45°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40C8A19-44D9-49F5-938D-518CA3741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1675" y="4467225"/>
            <a:ext cx="4191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A5B7C2"/>
                </a:solidFill>
                <a:latin typeface="BIZ UDGothic"/>
                <a:ea typeface="BIZ UDGothic"/>
                <a:cs typeface="BIZ UDGothic"/>
              </a:defRPr>
            </a:pPr>
            <a:r>
              <a:rPr sz="2400" b="0">
                <a:solidFill>
                  <a:srgbClr val="A5B7C2"/>
                </a:solidFill>
                <a:latin typeface="BIZ UDGothic"/>
                <a:ea typeface="BIZ UDGothic"/>
                <a:cs typeface="BIZ UDGothic"/>
              </a:rPr>
              <a:t>×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2725A9D-6E7E-4221-B3DA-79616E721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4400550"/>
            <a:ext cx="2076450" cy="5400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57D4CF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57D4CF"/>
                </a:solidFill>
                <a:latin typeface="Arial"/>
                <a:ea typeface="Arial"/>
                <a:cs typeface="Arial"/>
              </a:rPr>
              <a:t>4 1/2″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5385F18-DE9C-4863-B23F-995663415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4467225"/>
            <a:ext cx="4191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A5B7C2"/>
                </a:solidFill>
                <a:latin typeface="BIZ UDGothic"/>
                <a:ea typeface="BIZ UDGothic"/>
                <a:cs typeface="BIZ UDGothic"/>
              </a:defRPr>
            </a:pPr>
            <a:r>
              <a:rPr sz="2400" b="0">
                <a:solidFill>
                  <a:srgbClr val="A5B7C2"/>
                </a:solidFill>
                <a:latin typeface="BIZ UDGothic"/>
                <a:ea typeface="BIZ UDGothic"/>
                <a:cs typeface="BIZ UDGothic"/>
              </a:rPr>
              <a:t>×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B2D0723-C858-439F-917E-27577C8FD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4400550"/>
            <a:ext cx="1524000" cy="5400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C4A4FF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C4A4FF"/>
                </a:solidFill>
                <a:latin typeface="Arial"/>
                <a:ea typeface="Arial"/>
                <a:cs typeface="Arial"/>
              </a:rPr>
              <a:t>60°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795FDD5-15A2-49D6-8FBF-E1366FA67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57875"/>
            <a:ext cx="10953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57D4CF"/>
                </a:solidFill>
                <a:latin typeface="BIZ UDGothic"/>
                <a:ea typeface="BIZ UDGothic"/>
                <a:cs typeface="BIZ UDGothic"/>
              </a:defRPr>
            </a:pPr>
            <a:r>
              <a:rPr sz="1725" b="1">
                <a:solidFill>
                  <a:srgbClr val="57D4CF"/>
                </a:solidFill>
                <a:latin typeface="BIZ UDGothic"/>
                <a:ea typeface="BIZ UDGothic"/>
                <a:cs typeface="BIZ UDGothic"/>
              </a:rPr>
              <a:t>確認すること：切れ込みが穏やかになり、ポケットへ戻る動きも保てるか。</a:t>
            </a:r>
          </a:p>
        </p:txBody>
      </p:sp>
    </p:spTree>
    <p:extLst>
      <p:ext uri="{BB962C8B-B14F-4D97-AF65-F5344CB8AC3E}">
        <p14:creationId xmlns:p14="http://schemas.microsoft.com/office/powerpoint/2010/main" val="596664417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07131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B79B0FA-6D29-4941-B4EB-42B77BCE9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7D4C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7D4CF"/>
                </a:solidFill>
                <a:latin typeface="Arial"/>
                <a:ea typeface="Arial"/>
                <a:cs typeface="Arial"/>
              </a:rPr>
              <a:t>DUAL ANGLE LAYOUT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05DC202-9ABB-4C33-B8B2-7CC27F2BF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23875"/>
            <a:ext cx="110299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F4F6F6"/>
                </a:solidFill>
                <a:latin typeface="Yu Gothic"/>
                <a:ea typeface="Yu Gothic"/>
                <a:cs typeface="Yu Gothic"/>
              </a:defRPr>
            </a:pPr>
            <a:r>
              <a:rPr sz="2925" b="1">
                <a:solidFill>
                  <a:srgbClr val="F4F6F6"/>
                </a:solidFill>
                <a:latin typeface="Yu Gothic"/>
                <a:ea typeface="Yu Gothic"/>
                <a:cs typeface="Yu Gothic"/>
              </a:rPr>
              <a:t>相談例：手前で反応し過ぎる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659B3B5-589B-4016-B9FE-12269172B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28725"/>
            <a:ext cx="1095375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A5B7C2"/>
                </a:solidFill>
                <a:latin typeface="BIZ UDGothic"/>
                <a:ea typeface="BIZ UDGothic"/>
                <a:cs typeface="BIZ UDGothic"/>
              </a:defRPr>
            </a:pPr>
            <a:r>
              <a:rPr sz="1800" b="0">
                <a:solidFill>
                  <a:srgbClr val="A5B7C2"/>
                </a:solidFill>
                <a:latin typeface="BIZ UDGothic"/>
                <a:ea typeface="BIZ UDGothic"/>
                <a:cs typeface="BIZ UDGothic"/>
              </a:rPr>
              <a:t>非対称球・親指穴あり。先に表面状態と投げるラインを確認します。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789A89F-8F8C-4890-9C9C-B58316485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10325"/>
            <a:ext cx="38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A5B7C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A5B7C2"/>
                </a:solidFill>
                <a:latin typeface="Arial"/>
                <a:ea typeface="Arial"/>
                <a:cs typeface="Arial"/>
              </a:rPr>
              <a:t>16</a:t>
            </a:r>
          </a:p>
        </p:txBody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ddc13c1469145d2"/>
          <a:stretch xmlns:a="http://schemas.openxmlformats.org/drawingml/2006/main"/>
        </p:blipFill>
        <p:spPr>
          <a:xfrm xmlns:a="http://schemas.openxmlformats.org/drawingml/2006/main">
            <a:off x="6655594" y="2047875"/>
            <a:ext cx="4643438" cy="3095625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4776FD0-474F-4EFD-80DD-CB20C1B1A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33600"/>
            <a:ext cx="5619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A5B7C2"/>
                </a:solidFill>
                <a:latin typeface="BIZ UDGothic"/>
                <a:ea typeface="BIZ UDGothic"/>
                <a:cs typeface="BIZ UDGothic"/>
              </a:defRPr>
            </a:pPr>
            <a:r>
              <a:rPr sz="2025" b="0">
                <a:solidFill>
                  <a:srgbClr val="A5B7C2"/>
                </a:solidFill>
                <a:latin typeface="BIZ UDGothic"/>
                <a:ea typeface="BIZ UDGothic"/>
                <a:cs typeface="BIZ UDGothic"/>
              </a:rPr>
              <a:t>比較の基準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84154FA-1DD0-4EC4-9FF1-71C8ED300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05100"/>
            <a:ext cx="1428750" cy="5400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FFB66F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FFB66F"/>
                </a:solidFill>
                <a:latin typeface="Arial"/>
                <a:ea typeface="Arial"/>
                <a:cs typeface="Arial"/>
              </a:rPr>
              <a:t>45°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672EB93-3B0E-472D-928C-5E1F08472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1675" y="2771775"/>
            <a:ext cx="4191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A5B7C2"/>
                </a:solidFill>
                <a:latin typeface="BIZ UDGothic"/>
                <a:ea typeface="BIZ UDGothic"/>
                <a:cs typeface="BIZ UDGothic"/>
              </a:defRPr>
            </a:pPr>
            <a:r>
              <a:rPr sz="2400" b="0">
                <a:solidFill>
                  <a:srgbClr val="A5B7C2"/>
                </a:solidFill>
                <a:latin typeface="BIZ UDGothic"/>
                <a:ea typeface="BIZ UDGothic"/>
                <a:cs typeface="BIZ UDGothic"/>
              </a:rPr>
              <a:t>×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C053A40-C7CC-4639-8D55-B447E18F1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2705100"/>
            <a:ext cx="2076450" cy="5400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57D4CF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57D4CF"/>
                </a:solidFill>
                <a:latin typeface="Arial"/>
                <a:ea typeface="Arial"/>
                <a:cs typeface="Arial"/>
              </a:rPr>
              <a:t>4 1/2″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CA2976A-71F2-4EAA-AE9F-519779E74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2771775"/>
            <a:ext cx="4191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A5B7C2"/>
                </a:solidFill>
                <a:latin typeface="BIZ UDGothic"/>
                <a:ea typeface="BIZ UDGothic"/>
                <a:cs typeface="BIZ UDGothic"/>
              </a:defRPr>
            </a:pPr>
            <a:r>
              <a:rPr sz="2400" b="0">
                <a:solidFill>
                  <a:srgbClr val="A5B7C2"/>
                </a:solidFill>
                <a:latin typeface="BIZ UDGothic"/>
                <a:ea typeface="BIZ UDGothic"/>
                <a:cs typeface="BIZ UDGothic"/>
              </a:rPr>
              <a:t>×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7A9E10F-5343-4A57-9F71-99A6D1295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2705100"/>
            <a:ext cx="1524000" cy="5400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C4A4FF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C4A4FF"/>
                </a:solidFill>
                <a:latin typeface="Arial"/>
                <a:ea typeface="Arial"/>
                <a:cs typeface="Arial"/>
              </a:rPr>
              <a:t>45°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82E732A-BF20-44FA-968F-1EBF25BFB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48100"/>
            <a:ext cx="571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FFB66F"/>
                </a:solidFill>
                <a:latin typeface="BIZ UDGothic"/>
                <a:ea typeface="BIZ UDGothic"/>
                <a:cs typeface="BIZ UDGothic"/>
              </a:defRPr>
            </a:pPr>
            <a:r>
              <a:rPr sz="2025" b="1">
                <a:solidFill>
                  <a:srgbClr val="FFB66F"/>
                </a:solidFill>
                <a:latin typeface="BIZ UDGothic"/>
                <a:ea typeface="BIZ UDGothic"/>
                <a:cs typeface="BIZ UDGothic"/>
              </a:rPr>
              <a:t>ドリルアングルを広げる候補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BC309B0-8A9A-478E-A069-F839474FF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00550"/>
            <a:ext cx="1428750" cy="5400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FFB66F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FFB66F"/>
                </a:solidFill>
                <a:latin typeface="Arial"/>
                <a:ea typeface="Arial"/>
                <a:cs typeface="Arial"/>
              </a:rPr>
              <a:t>70°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FC1574B-3382-4FE7-8BED-52384F425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1675" y="4467225"/>
            <a:ext cx="4191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A5B7C2"/>
                </a:solidFill>
                <a:latin typeface="BIZ UDGothic"/>
                <a:ea typeface="BIZ UDGothic"/>
                <a:cs typeface="BIZ UDGothic"/>
              </a:defRPr>
            </a:pPr>
            <a:r>
              <a:rPr sz="2400" b="0">
                <a:solidFill>
                  <a:srgbClr val="A5B7C2"/>
                </a:solidFill>
                <a:latin typeface="BIZ UDGothic"/>
                <a:ea typeface="BIZ UDGothic"/>
                <a:cs typeface="BIZ UDGothic"/>
              </a:rPr>
              <a:t>×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FC0292F-71FE-42C7-9FA5-94CAFF552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4400550"/>
            <a:ext cx="2076450" cy="5400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57D4CF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57D4CF"/>
                </a:solidFill>
                <a:latin typeface="Arial"/>
                <a:ea typeface="Arial"/>
                <a:cs typeface="Arial"/>
              </a:rPr>
              <a:t>4 1/2″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26A650D-DFEE-4B35-A65C-92B306C7E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4467225"/>
            <a:ext cx="4191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A5B7C2"/>
                </a:solidFill>
                <a:latin typeface="BIZ UDGothic"/>
                <a:ea typeface="BIZ UDGothic"/>
                <a:cs typeface="BIZ UDGothic"/>
              </a:defRPr>
            </a:pPr>
            <a:r>
              <a:rPr sz="2400" b="0">
                <a:solidFill>
                  <a:srgbClr val="A5B7C2"/>
                </a:solidFill>
                <a:latin typeface="BIZ UDGothic"/>
                <a:ea typeface="BIZ UDGothic"/>
                <a:cs typeface="BIZ UDGothic"/>
              </a:rPr>
              <a:t>×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5D49D78-ECE7-4703-92D4-57AE012C5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4400550"/>
            <a:ext cx="1524000" cy="5400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C4A4FF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C4A4FF"/>
                </a:solidFill>
                <a:latin typeface="Arial"/>
                <a:ea typeface="Arial"/>
                <a:cs typeface="Arial"/>
              </a:rPr>
              <a:t>45°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60B1AD4-31B0-4B76-99D3-F462CACE5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57875"/>
            <a:ext cx="10953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57D4CF"/>
                </a:solidFill>
                <a:latin typeface="BIZ UDGothic"/>
                <a:ea typeface="BIZ UDGothic"/>
                <a:cs typeface="BIZ UDGothic"/>
              </a:defRPr>
            </a:pPr>
            <a:r>
              <a:rPr sz="1725" b="1">
                <a:solidFill>
                  <a:srgbClr val="57D4CF"/>
                </a:solidFill>
                <a:latin typeface="BIZ UDGothic"/>
                <a:ea typeface="BIZ UDGothic"/>
                <a:cs typeface="BIZ UDGothic"/>
              </a:rPr>
              <a:t>確認すること：手前の走りが保たれ、奥まで滑り過ぎないか。</a:t>
            </a:r>
          </a:p>
        </p:txBody>
      </p:sp>
    </p:spTree>
    <p:extLst>
      <p:ext uri="{BB962C8B-B14F-4D97-AF65-F5344CB8AC3E}">
        <p14:creationId xmlns:p14="http://schemas.microsoft.com/office/powerpoint/2010/main" val="1060324019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07131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A6BF365-6AA5-4791-864A-C5B556FB1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7D4C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7D4CF"/>
                </a:solidFill>
                <a:latin typeface="Arial"/>
                <a:ea typeface="Arial"/>
                <a:cs typeface="Arial"/>
              </a:rPr>
              <a:t>DUAL ANGLE LAYOUT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ABE0FBC-E6B4-4537-9F61-2A355E47D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23875"/>
            <a:ext cx="110299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F4F6F6"/>
                </a:solidFill>
                <a:latin typeface="Yu Gothic"/>
                <a:ea typeface="Yu Gothic"/>
                <a:cs typeface="Yu Gothic"/>
              </a:defRPr>
            </a:pPr>
            <a:r>
              <a:rPr sz="2925" b="1">
                <a:solidFill>
                  <a:srgbClr val="F4F6F6"/>
                </a:solidFill>
                <a:latin typeface="Yu Gothic"/>
                <a:ea typeface="Yu Gothic"/>
                <a:cs typeface="Yu Gothic"/>
              </a:rPr>
              <a:t>「奥で曲がらない」の見分け方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6FCF74D-A504-47D6-82A1-C2CDADC7F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28725"/>
            <a:ext cx="1095375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A5B7C2"/>
                </a:solidFill>
                <a:latin typeface="BIZ UDGothic"/>
                <a:ea typeface="BIZ UDGothic"/>
                <a:cs typeface="BIZ UDGothic"/>
              </a:defRPr>
            </a:pPr>
            <a:r>
              <a:rPr sz="1800" b="0">
                <a:solidFill>
                  <a:srgbClr val="A5B7C2"/>
                </a:solidFill>
                <a:latin typeface="BIZ UDGothic"/>
                <a:ea typeface="BIZ UDGothic"/>
                <a:cs typeface="BIZ UDGothic"/>
              </a:rPr>
              <a:t>手前からの動きを確認して、比較する方向を決めます。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2748E94-9BF3-42D4-8193-9098EE580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10325"/>
            <a:ext cx="38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A5B7C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A5B7C2"/>
                </a:solidFill>
                <a:latin typeface="Arial"/>
                <a:ea typeface="Arial"/>
                <a:cs typeface="Arial"/>
              </a:rPr>
              <a:t>17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508D951-CC02-4E12-A2AC-9649F15A1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47875"/>
            <a:ext cx="5048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57D4CF"/>
                </a:solidFill>
                <a:latin typeface="BIZ UDGothic"/>
                <a:ea typeface="BIZ UDGothic"/>
                <a:cs typeface="BIZ UDGothic"/>
              </a:defRPr>
            </a:pPr>
            <a:r>
              <a:rPr sz="2250" b="1">
                <a:solidFill>
                  <a:srgbClr val="57D4CF"/>
                </a:solidFill>
                <a:latin typeface="BIZ UDGothic"/>
                <a:ea typeface="BIZ UDGothic"/>
                <a:cs typeface="BIZ UDGothic"/>
              </a:rPr>
              <a:t>手前から向きが変わっている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C48F189-C67C-4778-AAE4-B62CEE336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52725"/>
            <a:ext cx="5048250" cy="2647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F4F6F6"/>
                </a:solidFill>
                <a:latin typeface="BIZ UDGothic"/>
                <a:ea typeface="BIZ UDGothic"/>
                <a:cs typeface="BIZ UDGothic"/>
              </a:defRPr>
            </a:pPr>
            <a:r>
              <a:rPr sz="2025" b="0">
                <a:solidFill>
                  <a:srgbClr val="F4F6F6"/>
                </a:solidFill>
                <a:latin typeface="BIZ UDGothic"/>
                <a:ea typeface="BIZ UDGothic"/>
                <a:cs typeface="BIZ UDGothic"/>
              </a:rPr>
              <a:t>手前の摩擦が強過ぎないか。</a:t>
            </a:r>
          </a:p>
          <a:p xmlns:a="http://schemas.openxmlformats.org/drawingml/2006/main">
            <a:pPr>
              <a:defRPr sz="2025" b="0">
                <a:solidFill>
                  <a:srgbClr val="F4F6F6"/>
                </a:solidFill>
                <a:latin typeface="BIZ UDGothic"/>
                <a:ea typeface="BIZ UDGothic"/>
                <a:cs typeface="BIZ UDGothic"/>
              </a:defRPr>
            </a:pPr>
            <a:r>
              <a:rPr sz="2025" b="0">
                <a:solidFill>
                  <a:srgbClr val="F4F6F6"/>
                </a:solidFill>
                <a:latin typeface="BIZ UDGothic"/>
                <a:ea typeface="BIZ UDGothic"/>
                <a:cs typeface="BIZ UDGothic"/>
              </a:rPr>
              <a:t>表面・球種・ラインを確認。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F4F6F6"/>
                </a:solidFill>
                <a:latin typeface="BIZ UDGothic"/>
                <a:ea typeface="BIZ UDGothic"/>
                <a:cs typeface="BIZ UDGothic"/>
              </a:defRPr>
            </a:pPr>
            <a:r>
              <a:rPr sz="2025" b="0">
                <a:solidFill>
                  <a:srgbClr val="F4F6F6"/>
                </a:solidFill>
                <a:latin typeface="BIZ UDGothic"/>
                <a:ea typeface="BIZ UDGothic"/>
                <a:cs typeface="BIZ UDGothic"/>
              </a:rPr>
              <a:t>走りを保つ候補を比較します。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7103341-ECB5-452F-A171-F83CE052D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047875"/>
            <a:ext cx="51054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C4A4FF"/>
                </a:solidFill>
                <a:latin typeface="BIZ UDGothic"/>
                <a:ea typeface="BIZ UDGothic"/>
                <a:cs typeface="BIZ UDGothic"/>
              </a:defRPr>
            </a:pPr>
            <a:r>
              <a:rPr sz="2250" b="1">
                <a:solidFill>
                  <a:srgbClr val="C4A4FF"/>
                </a:solidFill>
                <a:latin typeface="BIZ UDGothic"/>
                <a:ea typeface="BIZ UDGothic"/>
                <a:cs typeface="BIZ UDGothic"/>
              </a:rPr>
              <a:t>奥まで滑り続けている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C160BEC-7BEC-4D97-8A26-0CA9869D9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752725"/>
            <a:ext cx="5105400" cy="2647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F4F6F6"/>
                </a:solidFill>
                <a:latin typeface="BIZ UDGothic"/>
                <a:ea typeface="BIZ UDGothic"/>
                <a:cs typeface="BIZ UDGothic"/>
              </a:defRPr>
            </a:pPr>
            <a:r>
              <a:rPr sz="2025" b="0">
                <a:solidFill>
                  <a:srgbClr val="F4F6F6"/>
                </a:solidFill>
                <a:latin typeface="BIZ UDGothic"/>
                <a:ea typeface="BIZ UDGothic"/>
                <a:cs typeface="BIZ UDGothic"/>
              </a:rPr>
              <a:t>必要な摩擦が得られているか。</a:t>
            </a:r>
          </a:p>
          <a:p xmlns:a="http://schemas.openxmlformats.org/drawingml/2006/main">
            <a:pPr>
              <a:defRPr sz="2025" b="0">
                <a:solidFill>
                  <a:srgbClr val="F4F6F6"/>
                </a:solidFill>
                <a:latin typeface="BIZ UDGothic"/>
                <a:ea typeface="BIZ UDGothic"/>
                <a:cs typeface="BIZ UDGothic"/>
              </a:defRPr>
            </a:pPr>
            <a:r>
              <a:rPr sz="2025" b="0">
                <a:solidFill>
                  <a:srgbClr val="F4F6F6"/>
                </a:solidFill>
                <a:latin typeface="BIZ UDGothic"/>
                <a:ea typeface="BIZ UDGothic"/>
                <a:cs typeface="BIZ UDGothic"/>
              </a:rPr>
              <a:t>油量・表面・球速との釣り合いを確認。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F4F6F6"/>
                </a:solidFill>
                <a:latin typeface="BIZ UDGothic"/>
                <a:ea typeface="BIZ UDGothic"/>
                <a:cs typeface="BIZ UDGothic"/>
              </a:defRPr>
            </a:pPr>
            <a:r>
              <a:rPr sz="2025" b="0">
                <a:solidFill>
                  <a:srgbClr val="F4F6F6"/>
                </a:solidFill>
                <a:latin typeface="BIZ UDGothic"/>
                <a:ea typeface="BIZ UDGothic"/>
                <a:cs typeface="BIZ UDGothic"/>
              </a:rPr>
              <a:t>早めに反応する候補を比較します。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889DA6D-88B6-46E6-BF9D-5B7CA5D65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57875"/>
            <a:ext cx="10953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57D4CF"/>
                </a:solidFill>
                <a:latin typeface="BIZ UDGothic"/>
                <a:ea typeface="BIZ UDGothic"/>
                <a:cs typeface="BIZ UDGothic"/>
              </a:defRPr>
            </a:pPr>
            <a:r>
              <a:rPr sz="1725" b="1">
                <a:solidFill>
                  <a:srgbClr val="57D4CF"/>
                </a:solidFill>
                <a:latin typeface="BIZ UDGothic"/>
                <a:ea typeface="BIZ UDGothic"/>
                <a:cs typeface="BIZ UDGothic"/>
              </a:rPr>
              <a:t>残ったピンだけで原因を決めず、ボールの通り道と回転を見ます。</a:t>
            </a:r>
          </a:p>
        </p:txBody>
      </p:sp>
    </p:spTree>
    <p:extLst>
      <p:ext uri="{BB962C8B-B14F-4D97-AF65-F5344CB8AC3E}">
        <p14:creationId xmlns:p14="http://schemas.microsoft.com/office/powerpoint/2010/main" val="1236091203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07131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3FEFEE5-2602-40C2-8664-177C62335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7D4C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7D4CF"/>
                </a:solidFill>
                <a:latin typeface="Arial"/>
                <a:ea typeface="Arial"/>
                <a:cs typeface="Arial"/>
              </a:rPr>
              <a:t>DUAL ANGLE LAYOUT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38BCC62-3072-436E-B552-D62A7CA78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23875"/>
            <a:ext cx="110299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F4F6F6"/>
                </a:solidFill>
                <a:latin typeface="Yu Gothic"/>
                <a:ea typeface="Yu Gothic"/>
                <a:cs typeface="Yu Gothic"/>
              </a:defRPr>
            </a:pPr>
            <a:r>
              <a:rPr sz="2925" b="1">
                <a:solidFill>
                  <a:srgbClr val="F4F6F6"/>
                </a:solidFill>
                <a:latin typeface="Yu Gothic"/>
                <a:ea typeface="Yu Gothic"/>
                <a:cs typeface="Yu Gothic"/>
              </a:rPr>
              <a:t>PAPの測定と、作図の精度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95F2AAE-67A1-4B30-AC5E-3A52F6123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28725"/>
            <a:ext cx="1095375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A5B7C2"/>
                </a:solidFill>
                <a:latin typeface="BIZ UDGothic"/>
                <a:ea typeface="BIZ UDGothic"/>
                <a:cs typeface="BIZ UDGothic"/>
              </a:defRPr>
            </a:pPr>
            <a:r>
              <a:rPr sz="1800" b="0">
                <a:solidFill>
                  <a:srgbClr val="A5B7C2"/>
                </a:solidFill>
                <a:latin typeface="BIZ UDGothic"/>
                <a:ea typeface="BIZ UDGothic"/>
                <a:cs typeface="BIZ UDGothic"/>
              </a:rPr>
              <a:t>数字の細かさより、投球と測定の再現性を確認します。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4736DEE-04FC-44B8-812E-8ACC1D211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10325"/>
            <a:ext cx="38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A5B7C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A5B7C2"/>
                </a:solidFill>
                <a:latin typeface="Arial"/>
                <a:ea typeface="Arial"/>
                <a:cs typeface="Arial"/>
              </a:rPr>
              <a:t>18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849E3EA-FFE8-49D4-95BC-C65ABC1CB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76450"/>
            <a:ext cx="5619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57D4CF"/>
                </a:solidFill>
                <a:latin typeface="BIZ UDGothic"/>
                <a:ea typeface="BIZ UDGothic"/>
                <a:cs typeface="BIZ UDGothic"/>
              </a:defRPr>
            </a:pPr>
            <a:r>
              <a:rPr sz="2175" b="1">
                <a:solidFill>
                  <a:srgbClr val="57D4CF"/>
                </a:solidFill>
                <a:latin typeface="BIZ UDGothic"/>
                <a:ea typeface="BIZ UDGothic"/>
                <a:cs typeface="BIZ UDGothic"/>
              </a:rPr>
              <a:t>ピン–PAP距離のずれ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C0D8D0B-B90E-43F5-9137-B817F2617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52725"/>
            <a:ext cx="5143500" cy="84867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4950" b="1">
                <a:solidFill>
                  <a:srgbClr val="57D4CF"/>
                </a:solidFill>
                <a:latin typeface="Arial"/>
                <a:ea typeface="Arial"/>
                <a:cs typeface="Arial"/>
              </a:defRPr>
            </a:pPr>
            <a:r>
              <a:rPr sz="4950" b="1">
                <a:solidFill>
                  <a:srgbClr val="57D4CF"/>
                </a:solidFill>
                <a:latin typeface="Arial"/>
                <a:ea typeface="Arial"/>
                <a:cs typeface="Arial"/>
              </a:rPr>
              <a:t>±1/16″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0F21466-9CF4-4BD8-AF67-03624A179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076450"/>
            <a:ext cx="5048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C4A4FF"/>
                </a:solidFill>
                <a:latin typeface="BIZ UDGothic"/>
                <a:ea typeface="BIZ UDGothic"/>
                <a:cs typeface="BIZ UDGothic"/>
              </a:defRPr>
            </a:pPr>
            <a:r>
              <a:rPr sz="2175" b="1">
                <a:solidFill>
                  <a:srgbClr val="C4A4FF"/>
                </a:solidFill>
                <a:latin typeface="BIZ UDGothic"/>
                <a:ea typeface="BIZ UDGothic"/>
                <a:cs typeface="BIZ UDGothic"/>
              </a:rPr>
              <a:t>VAL角のずれ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95DD4F7-50C9-4D43-A365-FD1781E97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752725"/>
            <a:ext cx="5048250" cy="84867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4950" b="1">
                <a:solidFill>
                  <a:srgbClr val="C4A4FF"/>
                </a:solidFill>
                <a:latin typeface="Arial"/>
                <a:ea typeface="Arial"/>
                <a:cs typeface="Arial"/>
              </a:defRPr>
            </a:pPr>
            <a:r>
              <a:rPr sz="4950" b="1">
                <a:solidFill>
                  <a:srgbClr val="C4A4FF"/>
                </a:solidFill>
                <a:latin typeface="Arial"/>
                <a:ea typeface="Arial"/>
                <a:cs typeface="Arial"/>
              </a:rPr>
              <a:t>±2°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E34E967-6F36-4DAD-82DB-4A8A08BC4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33850"/>
            <a:ext cx="10668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F4F6F6"/>
                </a:solidFill>
                <a:latin typeface="BIZ UDGothic"/>
                <a:ea typeface="BIZ UDGothic"/>
                <a:cs typeface="BIZ UDGothic"/>
              </a:defRPr>
            </a:pPr>
            <a:r>
              <a:rPr sz="2175" b="0">
                <a:solidFill>
                  <a:srgbClr val="F4F6F6"/>
                </a:solidFill>
                <a:latin typeface="BIZ UDGothic"/>
                <a:ea typeface="BIZ UDGothic"/>
                <a:cs typeface="BIZ UDGothic"/>
              </a:rPr>
              <a:t>この仮定では、ピンバッファの計算範囲は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2C9964D-7C5F-4194-B3CE-B08D1026E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57750"/>
            <a:ext cx="109537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750" b="1">
                <a:solidFill>
                  <a:srgbClr val="F4F6F6"/>
                </a:solidFill>
                <a:latin typeface="BIZ UDGothic"/>
                <a:ea typeface="BIZ UDGothic"/>
                <a:cs typeface="BIZ UDGothic"/>
              </a:defRPr>
            </a:pPr>
            <a:r>
              <a:rPr sz="3750" b="1">
                <a:solidFill>
                  <a:srgbClr val="F4F6F6"/>
                </a:solidFill>
                <a:latin typeface="BIZ UDGothic"/>
                <a:ea typeface="BIZ UDGothic"/>
                <a:cs typeface="BIZ UDGothic"/>
              </a:rPr>
              <a:t>約2 11/16″ ～ 2 31/32″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0E658AC-F4C6-4A08-AFE6-7F699D2E1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34075"/>
            <a:ext cx="10953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A5B7C2"/>
                </a:solidFill>
                <a:latin typeface="BIZ UDGothic"/>
                <a:ea typeface="BIZ UDGothic"/>
                <a:cs typeface="BIZ UDGothic"/>
              </a:defRPr>
            </a:pPr>
            <a:r>
              <a:rPr sz="1650" b="0">
                <a:solidFill>
                  <a:srgbClr val="A5B7C2"/>
                </a:solidFill>
                <a:latin typeface="BIZ UDGothic"/>
                <a:ea typeface="BIZ UDGothic"/>
                <a:cs typeface="BIZ UDGothic"/>
              </a:rPr>
              <a:t>基準：ピン–PAP距離4 1/2″、VAL角45°。</a:t>
            </a:r>
          </a:p>
          <a:p xmlns:a="http://schemas.openxmlformats.org/drawingml/2006/main">
            <a:pPr>
              <a:defRPr sz="1650" b="0">
                <a:solidFill>
                  <a:srgbClr val="A5B7C2"/>
                </a:solidFill>
                <a:latin typeface="BIZ UDGothic"/>
                <a:ea typeface="BIZ UDGothic"/>
                <a:cs typeface="BIZ UDGothic"/>
              </a:defRPr>
            </a:pPr>
            <a:r>
              <a:rPr sz="1650" b="0">
                <a:solidFill>
                  <a:srgbClr val="A5B7C2"/>
                </a:solidFill>
                <a:latin typeface="BIZ UDGothic"/>
                <a:ea typeface="BIZ UDGothic"/>
                <a:cs typeface="BIZ UDGothic"/>
              </a:rPr>
              <a:t>これは仮定の計算例で、実際の測定精度や施工公差を示す数値ではありません。</a:t>
            </a:r>
          </a:p>
        </p:txBody>
      </p:sp>
    </p:spTree>
    <p:extLst>
      <p:ext uri="{BB962C8B-B14F-4D97-AF65-F5344CB8AC3E}">
        <p14:creationId xmlns:p14="http://schemas.microsoft.com/office/powerpoint/2010/main" val="1154855012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07131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0FFED83-E9B7-41F0-A9EE-3638B80A5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7D4C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7D4CF"/>
                </a:solidFill>
                <a:latin typeface="Arial"/>
                <a:ea typeface="Arial"/>
                <a:cs typeface="Arial"/>
              </a:rPr>
              <a:t>DUAL ANGLE LAYOUT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593B761-0BF6-4B52-8798-F8EF1C76F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23875"/>
            <a:ext cx="110299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F4F6F6"/>
                </a:solidFill>
                <a:latin typeface="Yu Gothic"/>
                <a:ea typeface="Yu Gothic"/>
                <a:cs typeface="Yu Gothic"/>
              </a:defRPr>
            </a:pPr>
            <a:r>
              <a:rPr sz="2925" b="1">
                <a:solidFill>
                  <a:srgbClr val="F4F6F6"/>
                </a:solidFill>
                <a:latin typeface="Yu Gothic"/>
                <a:ea typeface="Yu Gothic"/>
                <a:cs typeface="Yu Gothic"/>
              </a:rPr>
              <a:t>親指穴を使わないボウラーの場合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A6214B6-FEB3-4261-8956-2318EA98F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28725"/>
            <a:ext cx="1095375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A5B7C2"/>
                </a:solidFill>
                <a:latin typeface="BIZ UDGothic"/>
                <a:ea typeface="BIZ UDGothic"/>
                <a:cs typeface="BIZ UDGothic"/>
              </a:defRPr>
            </a:pPr>
            <a:r>
              <a:rPr sz="1800" b="0">
                <a:solidFill>
                  <a:srgbClr val="A5B7C2"/>
                </a:solidFill>
                <a:latin typeface="BIZ UDGothic"/>
                <a:ea typeface="BIZ UDGothic"/>
                <a:cs typeface="BIZ UDGothic"/>
              </a:rPr>
              <a:t>親指穴の有無で、取り除く質量と完成球の特性が変わります。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1FFF723-E9C3-4454-99F8-7792BE2F5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10325"/>
            <a:ext cx="38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A5B7C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A5B7C2"/>
                </a:solidFill>
                <a:latin typeface="Arial"/>
                <a:ea typeface="Arial"/>
                <a:cs typeface="Arial"/>
              </a:rPr>
              <a:t>19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93DDFC6-E0B7-41AF-AF79-B9A2A7D5A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76450"/>
            <a:ext cx="5238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FFB66F"/>
                </a:solidFill>
                <a:latin typeface="BIZ UDGothic"/>
                <a:ea typeface="BIZ UDGothic"/>
                <a:cs typeface="BIZ UDGothic"/>
              </a:defRPr>
            </a:pPr>
            <a:r>
              <a:rPr sz="2475" b="1">
                <a:solidFill>
                  <a:srgbClr val="FFB66F"/>
                </a:solidFill>
                <a:latin typeface="BIZ UDGothic"/>
                <a:ea typeface="BIZ UDGothic"/>
                <a:cs typeface="BIZ UDGothic"/>
              </a:rPr>
              <a:t>デュアルアングル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F8B50B4-4C87-48FF-BE6B-8F3E53880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24175"/>
            <a:ext cx="5238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925" b="0">
                <a:solidFill>
                  <a:srgbClr val="F4F6F6"/>
                </a:solidFill>
                <a:latin typeface="BIZ UDGothic"/>
                <a:ea typeface="BIZ UDGothic"/>
                <a:cs typeface="BIZ UDGothic"/>
              </a:defRPr>
            </a:pPr>
            <a:r>
              <a:rPr sz="2925" b="0">
                <a:solidFill>
                  <a:srgbClr val="F4F6F6"/>
                </a:solidFill>
                <a:latin typeface="BIZ UDGothic"/>
                <a:ea typeface="BIZ UDGothic"/>
                <a:cs typeface="BIZ UDGothic"/>
              </a:rPr>
              <a:t>角度 × 距離 × 角度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DA3540A-9C69-4189-B488-9780211C9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076450"/>
            <a:ext cx="5048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57D4CF"/>
                </a:solidFill>
                <a:latin typeface="BIZ UDGothic"/>
                <a:ea typeface="BIZ UDGothic"/>
                <a:cs typeface="BIZ UDGothic"/>
              </a:defRPr>
            </a:pPr>
            <a:r>
              <a:rPr sz="2475" b="1">
                <a:solidFill>
                  <a:srgbClr val="57D4CF"/>
                </a:solidFill>
                <a:latin typeface="BIZ UDGothic"/>
                <a:ea typeface="BIZ UDGothic"/>
                <a:cs typeface="BIZ UDGothic"/>
              </a:rPr>
              <a:t>Storm 2LS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D1CDA18-A943-4CD1-BFDA-9F3A7547D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924175"/>
            <a:ext cx="50958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925" b="0">
                <a:solidFill>
                  <a:srgbClr val="F4F6F6"/>
                </a:solidFill>
                <a:latin typeface="BIZ UDGothic"/>
                <a:ea typeface="BIZ UDGothic"/>
                <a:cs typeface="BIZ UDGothic"/>
              </a:defRPr>
            </a:pPr>
            <a:r>
              <a:rPr sz="2925" b="0">
                <a:solidFill>
                  <a:srgbClr val="F4F6F6"/>
                </a:solidFill>
                <a:latin typeface="BIZ UDGothic"/>
                <a:ea typeface="BIZ UDGothic"/>
                <a:cs typeface="BIZ UDGothic"/>
              </a:rPr>
              <a:t>距離 × 距離 × 距離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3B7983D-5415-4AC6-9758-F6A76059F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33850"/>
            <a:ext cx="108585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F4F6F6"/>
                </a:solidFill>
                <a:latin typeface="BIZ UDGothic"/>
                <a:ea typeface="BIZ UDGothic"/>
                <a:cs typeface="BIZ UDGothic"/>
              </a:defRPr>
            </a:pPr>
            <a:r>
              <a:rPr sz="2250" b="0">
                <a:solidFill>
                  <a:srgbClr val="F4F6F6"/>
                </a:solidFill>
                <a:latin typeface="BIZ UDGothic"/>
                <a:ea typeface="BIZ UDGothic"/>
                <a:cs typeface="BIZ UDGothic"/>
              </a:rPr>
              <a:t>2LSの３番目は、ピンからグリップ中心までの距離。</a:t>
            </a:r>
          </a:p>
          <a:p xmlns:a="http://schemas.openxmlformats.org/drawingml/2006/main">
            <a:pPr>
              <a:defRPr sz="2250" b="0">
                <a:solidFill>
                  <a:srgbClr val="F4F6F6"/>
                </a:solidFill>
                <a:latin typeface="BIZ UDGothic"/>
                <a:ea typeface="BIZ UDGothic"/>
                <a:cs typeface="BIZ UDGothic"/>
              </a:defRPr>
            </a:pPr>
            <a:r>
              <a:rPr sz="2250" b="0">
                <a:solidFill>
                  <a:srgbClr val="F4F6F6"/>
                </a:solidFill>
                <a:latin typeface="BIZ UDGothic"/>
                <a:ea typeface="BIZ UDGothic"/>
                <a:cs typeface="BIZ UDGothic"/>
              </a:rPr>
              <a:t>VAL角の数値を、そのまま入れる場所ではありません。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DF283FD-573A-4718-A8AB-0F668CCB8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57875"/>
            <a:ext cx="10953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57D4CF"/>
                </a:solidFill>
                <a:latin typeface="BIZ UDGothic"/>
                <a:ea typeface="BIZ UDGothic"/>
                <a:cs typeface="BIZ UDGothic"/>
              </a:defRPr>
            </a:pPr>
            <a:r>
              <a:rPr sz="1725" b="1">
                <a:solidFill>
                  <a:srgbClr val="57D4CF"/>
                </a:solidFill>
                <a:latin typeface="BIZ UDGothic"/>
                <a:ea typeface="BIZ UDGothic"/>
                <a:cs typeface="BIZ UDGothic"/>
              </a:rPr>
              <a:t>親指穴なしでは、フィンガー深さを含む球別の施工資料と照合します。</a:t>
            </a:r>
          </a:p>
        </p:txBody>
      </p:sp>
    </p:spTree>
    <p:extLst>
      <p:ext uri="{BB962C8B-B14F-4D97-AF65-F5344CB8AC3E}">
        <p14:creationId xmlns:p14="http://schemas.microsoft.com/office/powerpoint/2010/main" val="1932251131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07131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CFC3075-B19D-430D-B178-6E2DE477C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7D4C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7D4CF"/>
                </a:solidFill>
                <a:latin typeface="Arial"/>
                <a:ea typeface="Arial"/>
                <a:cs typeface="Arial"/>
              </a:rPr>
              <a:t>DUAL ANGLE LAYOUT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DFB3A1-04FE-41C0-B7C5-3239423AE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23875"/>
            <a:ext cx="110299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F4F6F6"/>
                </a:solidFill>
                <a:latin typeface="Yu Gothic"/>
                <a:ea typeface="Yu Gothic"/>
                <a:cs typeface="Yu Gothic"/>
              </a:defRPr>
            </a:pPr>
            <a:r>
              <a:rPr sz="2925" b="1">
                <a:solidFill>
                  <a:srgbClr val="F4F6F6"/>
                </a:solidFill>
                <a:latin typeface="Yu Gothic"/>
                <a:ea typeface="Yu Gothic"/>
                <a:cs typeface="Yu Gothic"/>
              </a:rPr>
              <a:t>施工案を決めるときの確認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D82EFBA-E4C4-4113-B24E-658D3EB54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28725"/>
            <a:ext cx="1095375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A5B7C2"/>
                </a:solidFill>
                <a:latin typeface="BIZ UDGothic"/>
                <a:ea typeface="BIZ UDGothic"/>
                <a:cs typeface="BIZ UDGothic"/>
              </a:defRPr>
            </a:pPr>
            <a:r>
              <a:rPr sz="1800" b="0">
                <a:solidFill>
                  <a:srgbClr val="A5B7C2"/>
                </a:solidFill>
                <a:latin typeface="BIZ UDGothic"/>
                <a:ea typeface="BIZ UDGothic"/>
                <a:cs typeface="BIZ UDGothic"/>
              </a:rPr>
              <a:t>希望する動きと、失いたくない動きを一緒に記録します。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ED3DC24-B3EE-4F46-8469-4CBCCF153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10325"/>
            <a:ext cx="38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A5B7C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A5B7C2"/>
                </a:solidFill>
                <a:latin typeface="Arial"/>
                <a:ea typeface="Arial"/>
                <a:cs typeface="Arial"/>
              </a:rPr>
              <a:t>20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0122DFA-ECAA-4989-9395-58EDEA593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000250"/>
            <a:ext cx="266700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57D4CF"/>
                </a:solidFill>
                <a:latin typeface="BIZ UDGothic"/>
                <a:ea typeface="BIZ UDGothic"/>
                <a:cs typeface="BIZ UDGothic"/>
              </a:defRPr>
            </a:pPr>
            <a:r>
              <a:rPr sz="2100" b="1">
                <a:solidFill>
                  <a:srgbClr val="57D4CF"/>
                </a:solidFill>
                <a:latin typeface="BIZ UDGothic"/>
                <a:ea typeface="BIZ UDGothic"/>
                <a:cs typeface="BIZ UDGothic"/>
              </a:rPr>
              <a:t>今の基準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BD6D91F-8AD6-46B3-A461-ED7AF6C9B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2000250"/>
            <a:ext cx="8048625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F4F6F6"/>
                </a:solidFill>
                <a:latin typeface="BIZ UDGothic"/>
                <a:ea typeface="BIZ UDGothic"/>
                <a:cs typeface="BIZ UDGothic"/>
              </a:defRPr>
            </a:pPr>
            <a:r>
              <a:rPr sz="2025" b="0">
                <a:solidFill>
                  <a:srgbClr val="F4F6F6"/>
                </a:solidFill>
                <a:latin typeface="BIZ UDGothic"/>
                <a:ea typeface="BIZ UDGothic"/>
                <a:cs typeface="BIZ UDGothic"/>
              </a:rPr>
              <a:t>現在の球・表面・レイアウト、困るレーンと場面。</a:t>
            </a:r>
          </a:p>
          <a:p xmlns:a="http://schemas.openxmlformats.org/drawingml/2006/main">
            <a:pPr>
              <a:defRPr sz="2025" b="0">
                <a:solidFill>
                  <a:srgbClr val="F4F6F6"/>
                </a:solidFill>
                <a:latin typeface="BIZ UDGothic"/>
                <a:ea typeface="BIZ UDGothic"/>
                <a:cs typeface="BIZ UDGothic"/>
              </a:defRPr>
            </a:pPr>
            <a:r>
              <a:rPr sz="2025" b="0">
                <a:solidFill>
                  <a:srgbClr val="F4F6F6"/>
                </a:solidFill>
                <a:latin typeface="BIZ UDGothic"/>
                <a:ea typeface="BIZ UDGothic"/>
                <a:cs typeface="BIZ UDGothic"/>
              </a:rPr>
              <a:t>PAPと投球を確認します。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2B246D4-8D6E-4C92-A740-D6FFA6911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171825"/>
            <a:ext cx="266700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57D4CF"/>
                </a:solidFill>
                <a:latin typeface="BIZ UDGothic"/>
                <a:ea typeface="BIZ UDGothic"/>
                <a:cs typeface="BIZ UDGothic"/>
              </a:defRPr>
            </a:pPr>
            <a:r>
              <a:rPr sz="2100" b="1">
                <a:solidFill>
                  <a:srgbClr val="57D4CF"/>
                </a:solidFill>
                <a:latin typeface="BIZ UDGothic"/>
                <a:ea typeface="BIZ UDGothic"/>
                <a:cs typeface="BIZ UDGothic"/>
              </a:rPr>
              <a:t>今回の候補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3DE01B8-5D1F-4A79-9077-0BFE3E5EA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3171825"/>
            <a:ext cx="8048625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F4F6F6"/>
                </a:solidFill>
                <a:latin typeface="BIZ UDGothic"/>
                <a:ea typeface="BIZ UDGothic"/>
                <a:cs typeface="BIZ UDGothic"/>
              </a:defRPr>
            </a:pPr>
            <a:r>
              <a:rPr sz="2025" b="0">
                <a:solidFill>
                  <a:srgbClr val="F4F6F6"/>
                </a:solidFill>
                <a:latin typeface="BIZ UDGothic"/>
                <a:ea typeface="BIZ UDGothic"/>
                <a:cs typeface="BIZ UDGothic"/>
              </a:rPr>
              <a:t>３値をすべて記録し、何を変えたかを明示。</a:t>
            </a:r>
          </a:p>
          <a:p xmlns:a="http://schemas.openxmlformats.org/drawingml/2006/main">
            <a:pPr>
              <a:defRPr sz="2025" b="0">
                <a:solidFill>
                  <a:srgbClr val="F4F6F6"/>
                </a:solidFill>
                <a:latin typeface="BIZ UDGothic"/>
                <a:ea typeface="BIZ UDGothic"/>
                <a:cs typeface="BIZ UDGothic"/>
              </a:defRPr>
            </a:pPr>
            <a:r>
              <a:rPr sz="2025" b="0">
                <a:solidFill>
                  <a:srgbClr val="F4F6F6"/>
                </a:solidFill>
                <a:latin typeface="BIZ UDGothic"/>
                <a:ea typeface="BIZ UDGothic"/>
                <a:cs typeface="BIZ UDGothic"/>
              </a:rPr>
              <a:t>球別資料、グリップ、トラックと穴の位置を照合します。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7A1D7A4-CDDA-434A-A45C-A1FB5D76A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343400"/>
            <a:ext cx="266700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57D4CF"/>
                </a:solidFill>
                <a:latin typeface="BIZ UDGothic"/>
                <a:ea typeface="BIZ UDGothic"/>
                <a:cs typeface="BIZ UDGothic"/>
              </a:defRPr>
            </a:pPr>
            <a:r>
              <a:rPr sz="2100" b="1">
                <a:solidFill>
                  <a:srgbClr val="57D4CF"/>
                </a:solidFill>
                <a:latin typeface="BIZ UDGothic"/>
                <a:ea typeface="BIZ UDGothic"/>
                <a:cs typeface="BIZ UDGothic"/>
              </a:rPr>
              <a:t>完成後の確認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441B2F3-225E-436D-81D9-C125659F8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4343400"/>
            <a:ext cx="8048625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F4F6F6"/>
                </a:solidFill>
                <a:latin typeface="BIZ UDGothic"/>
                <a:ea typeface="BIZ UDGothic"/>
                <a:cs typeface="BIZ UDGothic"/>
              </a:defRPr>
            </a:pPr>
            <a:r>
              <a:rPr sz="2025" b="0">
                <a:solidFill>
                  <a:srgbClr val="F4F6F6"/>
                </a:solidFill>
                <a:latin typeface="BIZ UDGothic"/>
                <a:ea typeface="BIZ UDGothic"/>
                <a:cs typeface="BIZ UDGothic"/>
              </a:rPr>
              <a:t>狙った変化が出たか、必要な動きが残ったか。</a:t>
            </a:r>
          </a:p>
          <a:p xmlns:a="http://schemas.openxmlformats.org/drawingml/2006/main">
            <a:pPr>
              <a:defRPr sz="2025" b="0">
                <a:solidFill>
                  <a:srgbClr val="F4F6F6"/>
                </a:solidFill>
                <a:latin typeface="BIZ UDGothic"/>
                <a:ea typeface="BIZ UDGothic"/>
                <a:cs typeface="BIZ UDGothic"/>
              </a:defRPr>
            </a:pPr>
            <a:r>
              <a:rPr sz="2025" b="0">
                <a:solidFill>
                  <a:srgbClr val="F4F6F6"/>
                </a:solidFill>
                <a:latin typeface="BIZ UDGothic"/>
                <a:ea typeface="BIZ UDGothic"/>
                <a:cs typeface="BIZ UDGothic"/>
              </a:rPr>
              <a:t>投球条件とレーン変化を記録して比べます。</a:t>
            </a:r>
          </a:p>
        </p:txBody>
      </p:sp>
    </p:spTree>
    <p:extLst>
      <p:ext uri="{BB962C8B-B14F-4D97-AF65-F5344CB8AC3E}">
        <p14:creationId xmlns:p14="http://schemas.microsoft.com/office/powerpoint/2010/main" val="1351422926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07131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276E721-875C-4F76-B6FA-781F400C3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7D4C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7D4CF"/>
                </a:solidFill>
                <a:latin typeface="Arial"/>
                <a:ea typeface="Arial"/>
                <a:cs typeface="Arial"/>
              </a:rPr>
              <a:t>DUAL ANGLE LAYOUT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CE2F9B4-9083-43EE-A43D-28DB585E1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23875"/>
            <a:ext cx="110299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F4F6F6"/>
                </a:solidFill>
                <a:latin typeface="Yu Gothic"/>
                <a:ea typeface="Yu Gothic"/>
                <a:cs typeface="Yu Gothic"/>
              </a:defRPr>
            </a:pPr>
            <a:r>
              <a:rPr sz="2925" b="1">
                <a:solidFill>
                  <a:srgbClr val="F4F6F6"/>
                </a:solidFill>
                <a:latin typeface="Yu Gothic"/>
                <a:ea typeface="Yu Gothic"/>
                <a:cs typeface="Yu Gothic"/>
              </a:rPr>
              <a:t>補足：計算で確認できること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5ACB45C-817B-45A2-96A5-1D5FC1C35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28725"/>
            <a:ext cx="1095375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A5B7C2"/>
                </a:solidFill>
                <a:latin typeface="BIZ UDGothic"/>
                <a:ea typeface="BIZ UDGothic"/>
                <a:cs typeface="BIZ UDGothic"/>
              </a:defRPr>
            </a:pPr>
            <a:r>
              <a:rPr sz="1800" b="0">
                <a:solidFill>
                  <a:srgbClr val="A5B7C2"/>
                </a:solidFill>
                <a:latin typeface="BIZ UDGothic"/>
                <a:ea typeface="BIZ UDGothic"/>
                <a:cs typeface="BIZ UDGothic"/>
              </a:rPr>
              <a:t>モデルの結果と、レーンで観察する動きを分けて扱います。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22C4A4F-16CD-4113-97A2-9D18B835F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10325"/>
            <a:ext cx="38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A5B7C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A5B7C2"/>
                </a:solidFill>
                <a:latin typeface="Arial"/>
                <a:ea typeface="Arial"/>
                <a:cs typeface="Arial"/>
              </a:rPr>
              <a:t>21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609600" y="2047875"/>
          <a:ext xmlns:a="http://schemas.openxmlformats.org/drawingml/2006/main" cx="10972800" cy="3429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191000"/>
                <a:gridCol w="6781800"/>
              </a:tblGrid>
              <a:tr h="68580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BIZ UDGothic"/>
                          <a:ea typeface="BIZ UDGothic"/>
                          <a:cs typeface="BIZ UDGothic"/>
                        </a:rPr>
                        <a:t>項目</a:t>
                      </a:r>
                    </a:p>
                  </a:txBody>
                  <a:tcPr marL="152400" marR="152400" marT="114300" marB="114300" anchor="ctr">
                    <a:solidFill>
                      <a:srgbClr val="1752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BIZ UDGothic"/>
                          <a:ea typeface="BIZ UDGothic"/>
                          <a:cs typeface="BIZ UDGothic"/>
                        </a:rPr>
                        <a:t>現時点の扱い</a:t>
                      </a:r>
                    </a:p>
                  </a:txBody>
                  <a:tcPr marL="152400" marR="152400" marT="114300" marB="114300" anchor="ctr">
                    <a:solidFill>
                      <a:srgbClr val="17525D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F4F6F6"/>
                          </a:solidFill>
                          <a:latin typeface="BIZ UDGothic"/>
                          <a:ea typeface="BIZ UDGothic"/>
                          <a:cs typeface="BIZ UDGothic"/>
                        </a:rPr>
                        <a:t>角度・距離・ピンバッファ</a:t>
                      </a:r>
                    </a:p>
                  </a:txBody>
                  <a:tcPr marL="152400" marR="152400" marT="114300" marB="114300" anchor="ctr">
                    <a:solidFill>
                      <a:srgbClr val="0E233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F4F6F6"/>
                          </a:solidFill>
                          <a:latin typeface="BIZ UDGothic"/>
                          <a:ea typeface="BIZ UDGothic"/>
                          <a:cs typeface="BIZ UDGothic"/>
                        </a:rPr>
                        <a:t>球面幾何として検査できます</a:t>
                      </a:r>
                    </a:p>
                  </a:txBody>
                  <a:tcPr marL="152400" marR="152400" marT="114300" marB="114300" anchor="ctr">
                    <a:solidFill>
                      <a:srgbClr val="0E2331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F4F6F6"/>
                          </a:solidFill>
                          <a:latin typeface="BIZ UDGothic"/>
                          <a:ea typeface="BIZ UDGothic"/>
                          <a:cs typeface="BIZ UDGothic"/>
                        </a:rPr>
                        <a:t>穴加工後の質量・慣性</a:t>
                      </a:r>
                    </a:p>
                  </a:txBody>
                  <a:tcPr marL="152400" marR="152400" marT="114300" marB="114300" anchor="ctr">
                    <a:solidFill>
                      <a:srgbClr val="122B3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F4F6F6"/>
                          </a:solidFill>
                          <a:latin typeface="BIZ UDGothic"/>
                          <a:ea typeface="BIZ UDGothic"/>
                          <a:cs typeface="BIZ UDGothic"/>
                        </a:rPr>
                        <a:t>平均密度などの仮定に基づく比較計算です</a:t>
                      </a:r>
                    </a:p>
                  </a:txBody>
                  <a:tcPr marL="152400" marR="152400" marT="114300" marB="114300" anchor="ctr">
                    <a:solidFill>
                      <a:srgbClr val="122B39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F4F6F6"/>
                          </a:solidFill>
                          <a:latin typeface="BIZ UDGothic"/>
                          <a:ea typeface="BIZ UDGothic"/>
                          <a:cs typeface="BIZ UDGothic"/>
                        </a:rPr>
                        <a:t>独自指標・寄与率</a:t>
                      </a:r>
                    </a:p>
                  </a:txBody>
                  <a:tcPr marL="152400" marR="152400" marT="114300" marB="114300" anchor="ctr">
                    <a:solidFill>
                      <a:srgbClr val="0E233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F4F6F6"/>
                          </a:solidFill>
                          <a:latin typeface="BIZ UDGothic"/>
                          <a:ea typeface="BIZ UDGothic"/>
                          <a:cs typeface="BIZ UDGothic"/>
                        </a:rPr>
                        <a:t>計算条件に依存する診断値です</a:t>
                      </a:r>
                    </a:p>
                  </a:txBody>
                  <a:tcPr marL="152400" marR="152400" marT="114300" marB="114300" anchor="ctr">
                    <a:solidFill>
                      <a:srgbClr val="0E2331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F4F6F6"/>
                          </a:solidFill>
                          <a:latin typeface="BIZ UDGothic"/>
                          <a:ea typeface="BIZ UDGothic"/>
                          <a:cs typeface="BIZ UDGothic"/>
                        </a:rPr>
                        <a:t>実フレア・反応位置・入射角</a:t>
                      </a:r>
                    </a:p>
                  </a:txBody>
                  <a:tcPr marL="152400" marR="152400" marT="114300" marB="114300" anchor="ctr">
                    <a:solidFill>
                      <a:srgbClr val="122B3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F4F6F6"/>
                          </a:solidFill>
                          <a:latin typeface="BIZ UDGothic"/>
                          <a:ea typeface="BIZ UDGothic"/>
                          <a:cs typeface="BIZ UDGothic"/>
                        </a:rPr>
                        <a:t>実測に対する予測精度は未検証です</a:t>
                      </a:r>
                    </a:p>
                  </a:txBody>
                  <a:tcPr marL="152400" marR="152400" marT="114300" marB="114300" anchor="ctr">
                    <a:solidFill>
                      <a:srgbClr val="122B39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D124897-7548-4437-AB90-D035E4239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57875"/>
            <a:ext cx="10953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57D4CF"/>
                </a:solidFill>
                <a:latin typeface="BIZ UDGothic"/>
                <a:ea typeface="BIZ UDGothic"/>
                <a:cs typeface="BIZ UDGothic"/>
              </a:defRPr>
            </a:pPr>
            <a:r>
              <a:rPr sz="1725" b="1">
                <a:solidFill>
                  <a:srgbClr val="57D4CF"/>
                </a:solidFill>
                <a:latin typeface="BIZ UDGothic"/>
                <a:ea typeface="BIZ UDGothic"/>
                <a:cs typeface="BIZ UDGothic"/>
              </a:rPr>
              <a:t>カタログRGが一致しても、穴が通る部分の密度までは特定できません。</a:t>
            </a:r>
          </a:p>
        </p:txBody>
      </p:sp>
    </p:spTree>
    <p:extLst>
      <p:ext uri="{BB962C8B-B14F-4D97-AF65-F5344CB8AC3E}">
        <p14:creationId xmlns:p14="http://schemas.microsoft.com/office/powerpoint/2010/main" val="614800653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07131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5FEA714-8B1F-405E-9FB2-15BCCF5CF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7D4C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7D4CF"/>
                </a:solidFill>
                <a:latin typeface="Arial"/>
                <a:ea typeface="Arial"/>
                <a:cs typeface="Arial"/>
              </a:rPr>
              <a:t>DUAL ANGLE LAYOUT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AC560DA-F62D-405F-9FB0-65582E578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23875"/>
            <a:ext cx="110299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F4F6F6"/>
                </a:solidFill>
                <a:latin typeface="Yu Gothic"/>
                <a:ea typeface="Yu Gothic"/>
                <a:cs typeface="Yu Gothic"/>
              </a:defRPr>
            </a:pPr>
            <a:r>
              <a:rPr sz="2925" b="1">
                <a:solidFill>
                  <a:srgbClr val="F4F6F6"/>
                </a:solidFill>
                <a:latin typeface="Yu Gothic"/>
                <a:ea typeface="Yu Gothic"/>
                <a:cs typeface="Yu Gothic"/>
              </a:rPr>
              <a:t>補足：比較結果を次の施工に生かす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CDEF350-C4C9-4DF7-B30B-79A5F6DD3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28725"/>
            <a:ext cx="1095375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A5B7C2"/>
                </a:solidFill>
                <a:latin typeface="BIZ UDGothic"/>
                <a:ea typeface="BIZ UDGothic"/>
                <a:cs typeface="BIZ UDGothic"/>
              </a:defRPr>
            </a:pPr>
            <a:r>
              <a:rPr sz="1800" b="0">
                <a:solidFill>
                  <a:srgbClr val="A5B7C2"/>
                </a:solidFill>
                <a:latin typeface="BIZ UDGothic"/>
                <a:ea typeface="BIZ UDGothic"/>
                <a:cs typeface="BIZ UDGothic"/>
              </a:rPr>
              <a:t>同じ条件での観察を積み重ね、数値の選び方を更新します。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657542E-7E28-4BCB-AC81-635FA17E1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10325"/>
            <a:ext cx="38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A5B7C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A5B7C2"/>
                </a:solidFill>
                <a:latin typeface="Arial"/>
                <a:ea typeface="Arial"/>
                <a:cs typeface="Arial"/>
              </a:rPr>
              <a:t>22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CAE64FB-7337-433A-9E80-AD07D28E8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000250"/>
            <a:ext cx="266700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57D4CF"/>
                </a:solidFill>
                <a:latin typeface="BIZ UDGothic"/>
                <a:ea typeface="BIZ UDGothic"/>
                <a:cs typeface="BIZ UDGothic"/>
              </a:defRPr>
            </a:pPr>
            <a:r>
              <a:rPr sz="2100" b="1">
                <a:solidFill>
                  <a:srgbClr val="57D4CF"/>
                </a:solidFill>
                <a:latin typeface="BIZ UDGothic"/>
                <a:ea typeface="BIZ UDGothic"/>
                <a:cs typeface="BIZ UDGothic"/>
              </a:rPr>
              <a:t>施工前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0490679-838C-4A75-8532-95823571F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2000250"/>
            <a:ext cx="8048625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F4F6F6"/>
                </a:solidFill>
                <a:latin typeface="BIZ UDGothic"/>
                <a:ea typeface="BIZ UDGothic"/>
                <a:cs typeface="BIZ UDGothic"/>
              </a:defRPr>
            </a:pPr>
            <a:r>
              <a:rPr sz="2025" b="0">
                <a:solidFill>
                  <a:srgbClr val="F4F6F6"/>
                </a:solidFill>
                <a:latin typeface="BIZ UDGothic"/>
                <a:ea typeface="BIZ UDGothic"/>
                <a:cs typeface="BIZ UDGothic"/>
              </a:rPr>
              <a:t>狙う変化と維持したい動き、比較条件を記録。</a:t>
            </a:r>
          </a:p>
          <a:p xmlns:a="http://schemas.openxmlformats.org/drawingml/2006/main">
            <a:pPr>
              <a:defRPr sz="2025" b="0">
                <a:solidFill>
                  <a:srgbClr val="F4F6F6"/>
                </a:solidFill>
                <a:latin typeface="BIZ UDGothic"/>
                <a:ea typeface="BIZ UDGothic"/>
                <a:cs typeface="BIZ UDGothic"/>
              </a:defRPr>
            </a:pPr>
            <a:r>
              <a:rPr sz="2025" b="0">
                <a:solidFill>
                  <a:srgbClr val="F4F6F6"/>
                </a:solidFill>
                <a:latin typeface="BIZ UDGothic"/>
                <a:ea typeface="BIZ UDGothic"/>
                <a:cs typeface="BIZ UDGothic"/>
              </a:rPr>
              <a:t>「結果が良かった」の判定基準を先に決めます。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B21EFD6-EBD9-492C-8FDF-037443A48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171825"/>
            <a:ext cx="266700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57D4CF"/>
                </a:solidFill>
                <a:latin typeface="BIZ UDGothic"/>
                <a:ea typeface="BIZ UDGothic"/>
                <a:cs typeface="BIZ UDGothic"/>
              </a:defRPr>
            </a:pPr>
            <a:r>
              <a:rPr sz="2100" b="1">
                <a:solidFill>
                  <a:srgbClr val="57D4CF"/>
                </a:solidFill>
                <a:latin typeface="BIZ UDGothic"/>
                <a:ea typeface="BIZ UDGothic"/>
                <a:cs typeface="BIZ UDGothic"/>
              </a:rPr>
              <a:t>施工後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3C7C7BD-52B3-4A00-9FB2-301E2A1E8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3171825"/>
            <a:ext cx="8048625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F4F6F6"/>
                </a:solidFill>
                <a:latin typeface="BIZ UDGothic"/>
                <a:ea typeface="BIZ UDGothic"/>
                <a:cs typeface="BIZ UDGothic"/>
              </a:defRPr>
            </a:pPr>
            <a:r>
              <a:rPr sz="2025" b="0">
                <a:solidFill>
                  <a:srgbClr val="F4F6F6"/>
                </a:solidFill>
                <a:latin typeface="BIZ UDGothic"/>
                <a:ea typeface="BIZ UDGothic"/>
                <a:cs typeface="BIZ UDGothic"/>
              </a:rPr>
              <a:t>重量、測定できる場合は完成球RG、トラック位置を確認。</a:t>
            </a:r>
          </a:p>
          <a:p xmlns:a="http://schemas.openxmlformats.org/drawingml/2006/main">
            <a:pPr>
              <a:defRPr sz="2025" b="0">
                <a:solidFill>
                  <a:srgbClr val="F4F6F6"/>
                </a:solidFill>
                <a:latin typeface="BIZ UDGothic"/>
                <a:ea typeface="BIZ UDGothic"/>
                <a:cs typeface="BIZ UDGothic"/>
              </a:defRPr>
            </a:pPr>
            <a:r>
              <a:rPr sz="2025" b="0">
                <a:solidFill>
                  <a:srgbClr val="F4F6F6"/>
                </a:solidFill>
                <a:latin typeface="BIZ UDGothic"/>
                <a:ea typeface="BIZ UDGothic"/>
                <a:cs typeface="BIZ UDGothic"/>
              </a:rPr>
              <a:t>計算とのずれを残します。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4028DE8-B121-4276-A1F8-F5055E190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343400"/>
            <a:ext cx="266700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57D4CF"/>
                </a:solidFill>
                <a:latin typeface="BIZ UDGothic"/>
                <a:ea typeface="BIZ UDGothic"/>
                <a:cs typeface="BIZ UDGothic"/>
              </a:defRPr>
            </a:pPr>
            <a:r>
              <a:rPr sz="2100" b="1">
                <a:solidFill>
                  <a:srgbClr val="57D4CF"/>
                </a:solidFill>
                <a:latin typeface="BIZ UDGothic"/>
                <a:ea typeface="BIZ UDGothic"/>
                <a:cs typeface="BIZ UDGothic"/>
              </a:rPr>
              <a:t>投球比較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4322A2B-9F7B-472E-B70C-9E62C886F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4343400"/>
            <a:ext cx="8048625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F4F6F6"/>
                </a:solidFill>
                <a:latin typeface="BIZ UDGothic"/>
                <a:ea typeface="BIZ UDGothic"/>
                <a:cs typeface="BIZ UDGothic"/>
              </a:defRPr>
            </a:pPr>
            <a:r>
              <a:rPr sz="2025" b="0">
                <a:solidFill>
                  <a:srgbClr val="F4F6F6"/>
                </a:solidFill>
                <a:latin typeface="BIZ UDGothic"/>
                <a:ea typeface="BIZ UDGothic"/>
                <a:cs typeface="BIZ UDGothic"/>
              </a:rPr>
              <a:t>順番を交互にし、球速・回転・ラインも記録。</a:t>
            </a:r>
          </a:p>
          <a:p xmlns:a="http://schemas.openxmlformats.org/drawingml/2006/main">
            <a:pPr>
              <a:defRPr sz="2025" b="0">
                <a:solidFill>
                  <a:srgbClr val="F4F6F6"/>
                </a:solidFill>
                <a:latin typeface="BIZ UDGothic"/>
                <a:ea typeface="BIZ UDGothic"/>
                <a:cs typeface="BIZ UDGothic"/>
              </a:defRPr>
            </a:pPr>
            <a:r>
              <a:rPr sz="2025" b="0">
                <a:solidFill>
                  <a:srgbClr val="F4F6F6"/>
                </a:solidFill>
                <a:latin typeface="BIZ UDGothic"/>
                <a:ea typeface="BIZ UDGothic"/>
                <a:cs typeface="BIZ UDGothic"/>
              </a:rPr>
              <a:t>１球の繰り返し投球と、複数個体の比較を区別します。</a:t>
            </a:r>
          </a:p>
        </p:txBody>
      </p:sp>
    </p:spTree>
    <p:extLst>
      <p:ext uri="{BB962C8B-B14F-4D97-AF65-F5344CB8AC3E}">
        <p14:creationId xmlns:p14="http://schemas.microsoft.com/office/powerpoint/2010/main" val="1467705157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07131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C1F647C-8EC2-4236-AAE5-D99D1EBDB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7D4C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7D4CF"/>
                </a:solidFill>
                <a:latin typeface="Arial"/>
                <a:ea typeface="Arial"/>
                <a:cs typeface="Arial"/>
              </a:rPr>
              <a:t>DUAL ANGLE LAYOUT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5F76B5A-4CF4-481F-99B2-CDB405E19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23875"/>
            <a:ext cx="110299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F4F6F6"/>
                </a:solidFill>
                <a:latin typeface="Yu Gothic"/>
                <a:ea typeface="Yu Gothic"/>
                <a:cs typeface="Yu Gothic"/>
              </a:defRPr>
            </a:pPr>
            <a:r>
              <a:rPr sz="2925" b="1">
                <a:solidFill>
                  <a:srgbClr val="F4F6F6"/>
                </a:solidFill>
                <a:latin typeface="Yu Gothic"/>
                <a:ea typeface="Yu Gothic"/>
                <a:cs typeface="Yu Gothic"/>
              </a:rPr>
              <a:t>参考資料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CBC9DF1-6347-499D-A85C-EDC74EDB4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28725"/>
            <a:ext cx="1095375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A5B7C2"/>
                </a:solidFill>
                <a:latin typeface="BIZ UDGothic"/>
                <a:ea typeface="BIZ UDGothic"/>
                <a:cs typeface="BIZ UDGothic"/>
              </a:defRPr>
            </a:pPr>
            <a:r>
              <a:rPr sz="1800" b="0">
                <a:solidFill>
                  <a:srgbClr val="A5B7C2"/>
                </a:solidFill>
                <a:latin typeface="BIZ UDGothic"/>
                <a:ea typeface="BIZ UDGothic"/>
                <a:cs typeface="BIZ UDGothic"/>
              </a:rPr>
              <a:t>メーカーの説明・幾何学の計算・実測結果を区別して読みます。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793AC08-BC9E-4228-8F2A-9BFBED80E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10325"/>
            <a:ext cx="38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A5B7C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A5B7C2"/>
                </a:solidFill>
                <a:latin typeface="Arial"/>
                <a:ea typeface="Arial"/>
                <a:cs typeface="Arial"/>
              </a:rPr>
              <a:t>23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413B20C-5DE9-495D-B005-E24C3FF80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00250"/>
            <a:ext cx="3429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57D4CF"/>
                </a:solidFill>
                <a:latin typeface="BIZ UDGothic"/>
                <a:ea typeface="BIZ UDGothic"/>
                <a:cs typeface="BIZ UDGothic"/>
              </a:defRPr>
            </a:pPr>
            <a:r>
              <a:rPr sz="1800" b="1">
                <a:solidFill>
                  <a:srgbClr val="57D4CF"/>
                </a:solidFill>
                <a:latin typeface="BIZ UDGothic"/>
                <a:ea typeface="BIZ UDGothic"/>
                <a:cs typeface="BIZ UDGothic"/>
              </a:rPr>
              <a:t>MoRich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721A6B2-9AD5-437F-888E-C4A1E6E53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000250"/>
            <a:ext cx="7572375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F4F6F6"/>
                </a:solidFill>
                <a:latin typeface="BIZ UDGothic"/>
                <a:ea typeface="BIZ UDGothic"/>
                <a:cs typeface="BIZ UDGothic"/>
              </a:defRPr>
            </a:pPr>
            <a:r>
              <a:rPr sz="1875" b="0">
                <a:solidFill>
                  <a:srgbClr val="F4F6F6"/>
                </a:solidFill>
                <a:latin typeface="BIZ UDGothic"/>
                <a:ea typeface="BIZ UDGothic"/>
                <a:cs typeface="BIZ UDGothic"/>
                <a:hlinkClick xmlns:r="http://schemas.openxmlformats.org/officeDocument/2006/relationships" r:id="Rf90736041f3044ab"/>
              </a:rPr>
              <a:t>Dual Angle Layout Technique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FD0D2C7-3111-4E2F-BA31-2554B13EC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33675"/>
            <a:ext cx="3429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57D4CF"/>
                </a:solidFill>
                <a:latin typeface="BIZ UDGothic"/>
                <a:ea typeface="BIZ UDGothic"/>
                <a:cs typeface="BIZ UDGothic"/>
              </a:defRPr>
            </a:pPr>
            <a:r>
              <a:rPr sz="1800" b="1">
                <a:solidFill>
                  <a:srgbClr val="57D4CF"/>
                </a:solidFill>
                <a:latin typeface="BIZ UDGothic"/>
                <a:ea typeface="BIZ UDGothic"/>
                <a:cs typeface="BIZ UDGothic"/>
              </a:rPr>
              <a:t>Storm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9B1C80F-D8FB-4B60-A1DB-1BC299DA4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733675"/>
            <a:ext cx="7572375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F4F6F6"/>
                </a:solidFill>
                <a:latin typeface="BIZ UDGothic"/>
                <a:ea typeface="BIZ UDGothic"/>
                <a:cs typeface="BIZ UDGothic"/>
              </a:defRPr>
            </a:pPr>
            <a:r>
              <a:rPr sz="1875" b="0">
                <a:solidFill>
                  <a:srgbClr val="F4F6F6"/>
                </a:solidFill>
                <a:latin typeface="BIZ UDGothic"/>
                <a:ea typeface="BIZ UDGothic"/>
                <a:cs typeface="BIZ UDGothic"/>
                <a:hlinkClick xmlns:r="http://schemas.openxmlformats.org/officeDocument/2006/relationships" r:id="R8cb821e86b924b68"/>
              </a:rPr>
              <a:t>Pin Buffer Layout Guide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29D6119-5E22-4E12-8DFF-132861748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67100"/>
            <a:ext cx="3429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57D4CF"/>
                </a:solidFill>
                <a:latin typeface="BIZ UDGothic"/>
                <a:ea typeface="BIZ UDGothic"/>
                <a:cs typeface="BIZ UDGothic"/>
              </a:defRPr>
            </a:pPr>
            <a:r>
              <a:rPr sz="1800" b="1">
                <a:solidFill>
                  <a:srgbClr val="57D4CF"/>
                </a:solidFill>
                <a:latin typeface="BIZ UDGothic"/>
                <a:ea typeface="BIZ UDGothic"/>
                <a:cs typeface="BIZ UDGothic"/>
              </a:rPr>
              <a:t>Storm／Alex Hoskins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02AE31B-EFB6-4026-9D29-B75302A8B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467100"/>
            <a:ext cx="7572375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F4F6F6"/>
                </a:solidFill>
                <a:latin typeface="BIZ UDGothic"/>
                <a:ea typeface="BIZ UDGothic"/>
                <a:cs typeface="BIZ UDGothic"/>
              </a:defRPr>
            </a:pPr>
            <a:r>
              <a:rPr sz="1875" b="0">
                <a:solidFill>
                  <a:srgbClr val="F4F6F6"/>
                </a:solidFill>
                <a:latin typeface="BIZ UDGothic"/>
                <a:ea typeface="BIZ UDGothic"/>
                <a:cs typeface="BIZ UDGothic"/>
                <a:hlinkClick xmlns:r="http://schemas.openxmlformats.org/officeDocument/2006/relationships" r:id="R35d7565b678f4172"/>
              </a:rPr>
              <a:t>Pin Buffer Distance（BowlersMart掲載）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26E131A-1622-44E0-8694-AF5CFA900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00525"/>
            <a:ext cx="3429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57D4CF"/>
                </a:solidFill>
                <a:latin typeface="BIZ UDGothic"/>
                <a:ea typeface="BIZ UDGothic"/>
                <a:cs typeface="BIZ UDGothic"/>
              </a:defRPr>
            </a:pPr>
            <a:r>
              <a:rPr sz="1800" b="1">
                <a:solidFill>
                  <a:srgbClr val="57D4CF"/>
                </a:solidFill>
                <a:latin typeface="BIZ UDGothic"/>
                <a:ea typeface="BIZ UDGothic"/>
                <a:cs typeface="BIZ UDGothic"/>
              </a:rPr>
              <a:t>Storm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CE3C275-38E6-45E5-A006-14E7A5790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200525"/>
            <a:ext cx="7572375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F4F6F6"/>
                </a:solidFill>
                <a:latin typeface="BIZ UDGothic"/>
                <a:ea typeface="BIZ UDGothic"/>
                <a:cs typeface="BIZ UDGothic"/>
              </a:defRPr>
            </a:pPr>
            <a:r>
              <a:rPr sz="1875" b="0">
                <a:solidFill>
                  <a:srgbClr val="F4F6F6"/>
                </a:solidFill>
                <a:latin typeface="BIZ UDGothic"/>
                <a:ea typeface="BIZ UDGothic"/>
                <a:cs typeface="BIZ UDGothic"/>
                <a:hlinkClick xmlns:r="http://schemas.openxmlformats.org/officeDocument/2006/relationships" r:id="R0b18ac4b737f413a"/>
              </a:rPr>
              <a:t>2LS Drilling Instructions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B6947A9-81CF-4D6A-A447-B099366CB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33950"/>
            <a:ext cx="3429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57D4CF"/>
                </a:solidFill>
                <a:latin typeface="BIZ UDGothic"/>
                <a:ea typeface="BIZ UDGothic"/>
                <a:cs typeface="BIZ UDGothic"/>
              </a:defRPr>
            </a:pPr>
            <a:r>
              <a:rPr sz="1800" b="1">
                <a:solidFill>
                  <a:srgbClr val="57D4CF"/>
                </a:solidFill>
                <a:latin typeface="BIZ UDGothic"/>
                <a:ea typeface="BIZ UDGothic"/>
                <a:cs typeface="BIZ UDGothic"/>
              </a:rPr>
              <a:t>USBC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834854B-E2D1-446B-A2DF-41E119FED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933950"/>
            <a:ext cx="7572375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F4F6F6"/>
                </a:solidFill>
                <a:latin typeface="BIZ UDGothic"/>
                <a:ea typeface="BIZ UDGothic"/>
                <a:cs typeface="BIZ UDGothic"/>
              </a:defRPr>
            </a:pPr>
            <a:r>
              <a:rPr sz="1875" b="0">
                <a:solidFill>
                  <a:srgbClr val="F4F6F6"/>
                </a:solidFill>
                <a:latin typeface="BIZ UDGothic"/>
                <a:ea typeface="BIZ UDGothic"/>
                <a:cs typeface="BIZ UDGothic"/>
                <a:hlinkClick xmlns:r="http://schemas.openxmlformats.org/officeDocument/2006/relationships" r:id="Rfaa7cdbcd68140ae"/>
              </a:rPr>
              <a:t>Ball Motion Study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C6DF147-6ECC-4780-AC5F-3C77B6E84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48375"/>
            <a:ext cx="109537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A5B7C2"/>
                </a:solidFill>
                <a:latin typeface="BIZ UDGothic"/>
                <a:ea typeface="BIZ UDGothic"/>
                <a:cs typeface="BIZ UDGothic"/>
              </a:defRPr>
            </a:pPr>
            <a:r>
              <a:rPr sz="1725" b="0">
                <a:solidFill>
                  <a:srgbClr val="A5B7C2"/>
                </a:solidFill>
                <a:latin typeface="BIZ UDGothic"/>
                <a:ea typeface="BIZ UDGothic"/>
                <a:cs typeface="BIZ UDGothic"/>
              </a:rPr>
              <a:t>数式・追加検証・具体的な採否手順は、別添「再考察版技術報告」を参照。</a:t>
            </a:r>
          </a:p>
        </p:txBody>
      </p:sp>
    </p:spTree>
    <p:extLst>
      <p:ext uri="{BB962C8B-B14F-4D97-AF65-F5344CB8AC3E}">
        <p14:creationId xmlns:p14="http://schemas.microsoft.com/office/powerpoint/2010/main" val="62709777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2026-09-25T10:14:42.7660000Z</dcterms:created>
  <dcterms:modified xsi:type="dcterms:W3CDTF">2026-09-25T10:14:42.7660000Z</dcterms:modified>
</coreProperties>
</file>