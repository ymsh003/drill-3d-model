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40670fe2254bd9" /><Relationship Type="http://schemas.openxmlformats.org/officeDocument/2006/relationships/extended-properties" Target="/docProps/app.xml" Id="R997143d0b183425b" /><Relationship Type="http://schemas.openxmlformats.org/officeDocument/2006/relationships/officeDocument" Target="/ppt/presentation.xml" Id="R1d5148ce9f1548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beb11e5f8a4e61"/>
  </p:sldMasterIdLst>
  <p:notesMasterIdLst>
    <p:notesMasterId xmlns:r="http://schemas.openxmlformats.org/officeDocument/2006/relationships" r:id="R9092943922ee4d64"/>
  </p:notesMasterIdLst>
  <p:sldIdLst>
    <p:sldId xmlns:r="http://schemas.openxmlformats.org/officeDocument/2006/relationships" id="256" r:id="Rb248026eb9b349ee"/>
    <p:sldId xmlns:r="http://schemas.openxmlformats.org/officeDocument/2006/relationships" id="257" r:id="Rbfd102702d144974"/>
    <p:sldId xmlns:r="http://schemas.openxmlformats.org/officeDocument/2006/relationships" id="258" r:id="R385cc561622d4ba9"/>
    <p:sldId xmlns:r="http://schemas.openxmlformats.org/officeDocument/2006/relationships" id="259" r:id="R7e32e8f2194a49fc"/>
    <p:sldId xmlns:r="http://schemas.openxmlformats.org/officeDocument/2006/relationships" id="260" r:id="R060a9d679f14443b"/>
    <p:sldId xmlns:r="http://schemas.openxmlformats.org/officeDocument/2006/relationships" id="261" r:id="Rb1ddb6457111496b"/>
    <p:sldId xmlns:r="http://schemas.openxmlformats.org/officeDocument/2006/relationships" id="262" r:id="R9d2e39e3000b481b"/>
    <p:sldId xmlns:r="http://schemas.openxmlformats.org/officeDocument/2006/relationships" id="263" r:id="R2de61d91f88c4f1d"/>
    <p:sldId xmlns:r="http://schemas.openxmlformats.org/officeDocument/2006/relationships" id="264" r:id="Ra9784b18bc27427e"/>
    <p:sldId xmlns:r="http://schemas.openxmlformats.org/officeDocument/2006/relationships" id="265" r:id="R780c2f0628264062"/>
    <p:sldId xmlns:r="http://schemas.openxmlformats.org/officeDocument/2006/relationships" id="266" r:id="R5c1318a17aa54d97"/>
    <p:sldId xmlns:r="http://schemas.openxmlformats.org/officeDocument/2006/relationships" id="267" r:id="Rfe6adf4b13894e70"/>
    <p:sldId xmlns:r="http://schemas.openxmlformats.org/officeDocument/2006/relationships" id="268" r:id="R8cd6d618fce3410f"/>
    <p:sldId xmlns:r="http://schemas.openxmlformats.org/officeDocument/2006/relationships" id="269" r:id="R3f5c0a1fe7fd4d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f4dc82007d4e1f" /><Relationship Type="http://schemas.openxmlformats.org/officeDocument/2006/relationships/slideMaster" Target="/ppt/slideMasters/slideMaster1.xml" Id="R0ebeb11e5f8a4e61" /><Relationship Type="http://schemas.openxmlformats.org/officeDocument/2006/relationships/notesMaster" Target="/ppt/notesMasters/notesMaster1.xml" Id="R9092943922ee4d64" /><Relationship Type="http://schemas.openxmlformats.org/officeDocument/2006/relationships/presProps" Target="/ppt/presProps.xml" Id="R50f85eafa5f044d6" /><Relationship Type="http://schemas.openxmlformats.org/officeDocument/2006/relationships/tableStyles" Target="/ppt/tableStyles.xml" Id="Rbc895b649e7b42ec" /><Relationship Type="http://schemas.openxmlformats.org/officeDocument/2006/relationships/slide" Target="/ppt/slides/slide1.xml" Id="Rb248026eb9b349ee" /><Relationship Type="http://schemas.openxmlformats.org/officeDocument/2006/relationships/slide" Target="/ppt/slides/slide2.xml" Id="Rbfd102702d144974" /><Relationship Type="http://schemas.openxmlformats.org/officeDocument/2006/relationships/slide" Target="/ppt/slides/slide3.xml" Id="R385cc561622d4ba9" /><Relationship Type="http://schemas.openxmlformats.org/officeDocument/2006/relationships/slide" Target="/ppt/slides/slide4.xml" Id="R7e32e8f2194a49fc" /><Relationship Type="http://schemas.openxmlformats.org/officeDocument/2006/relationships/slide" Target="/ppt/slides/slide5.xml" Id="R060a9d679f14443b" /><Relationship Type="http://schemas.openxmlformats.org/officeDocument/2006/relationships/slide" Target="/ppt/slides/slide6.xml" Id="Rb1ddb6457111496b" /><Relationship Type="http://schemas.openxmlformats.org/officeDocument/2006/relationships/slide" Target="/ppt/slides/slide7.xml" Id="R9d2e39e3000b481b" /><Relationship Type="http://schemas.openxmlformats.org/officeDocument/2006/relationships/slide" Target="/ppt/slides/slide8.xml" Id="R2de61d91f88c4f1d" /><Relationship Type="http://schemas.openxmlformats.org/officeDocument/2006/relationships/slide" Target="/ppt/slides/slide9.xml" Id="Ra9784b18bc27427e" /><Relationship Type="http://schemas.openxmlformats.org/officeDocument/2006/relationships/slide" Target="/ppt/slides/slide10.xml" Id="R780c2f0628264062" /><Relationship Type="http://schemas.openxmlformats.org/officeDocument/2006/relationships/slide" Target="/ppt/slides/slide11.xml" Id="R5c1318a17aa54d97" /><Relationship Type="http://schemas.openxmlformats.org/officeDocument/2006/relationships/slide" Target="/ppt/slides/slide12.xml" Id="Rfe6adf4b13894e70" /><Relationship Type="http://schemas.openxmlformats.org/officeDocument/2006/relationships/slide" Target="/ppt/slides/slide13.xml" Id="R8cd6d618fce3410f" /><Relationship Type="http://schemas.openxmlformats.org/officeDocument/2006/relationships/slide" Target="/ppt/slides/slide14.xml" Id="R3f5c0a1fe7fd4d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35d9a87f3948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5d0db47d494265" /><Relationship Type="http://schemas.openxmlformats.org/officeDocument/2006/relationships/notesMaster" Target="/ppt/notesMasters/notesMaster1.xml" Id="Rf173d40e7b3b41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8eccee57ea463b" /><Relationship Type="http://schemas.openxmlformats.org/officeDocument/2006/relationships/notesMaster" Target="/ppt/notesMasters/notesMaster1.xml" Id="Rc36967cf8ea144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08e985c0b04f52" /><Relationship Type="http://schemas.openxmlformats.org/officeDocument/2006/relationships/notesMaster" Target="/ppt/notesMasters/notesMaster1.xml" Id="R73d4bfaa084c48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74c984882c4df9" /><Relationship Type="http://schemas.openxmlformats.org/officeDocument/2006/relationships/notesMaster" Target="/ppt/notesMasters/notesMaster1.xml" Id="R178d18eb170e40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1abb9187334c43" /><Relationship Type="http://schemas.openxmlformats.org/officeDocument/2006/relationships/notesMaster" Target="/ppt/notesMasters/notesMaster1.xml" Id="R2b16ab621bbc43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566bf651d84f59" /><Relationship Type="http://schemas.openxmlformats.org/officeDocument/2006/relationships/notesMaster" Target="/ppt/notesMasters/notesMaster1.xml" Id="Ra37cdafd1e274f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ca95fd01234aba" /><Relationship Type="http://schemas.openxmlformats.org/officeDocument/2006/relationships/notesMaster" Target="/ppt/notesMasters/notesMaster1.xml" Id="R7fea60c7ab1f4b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c2056829fe4782" /><Relationship Type="http://schemas.openxmlformats.org/officeDocument/2006/relationships/notesMaster" Target="/ppt/notesMasters/notesMaster1.xml" Id="R57cc04e2c0a946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6cd4e9629d43c1" /><Relationship Type="http://schemas.openxmlformats.org/officeDocument/2006/relationships/notesMaster" Target="/ppt/notesMasters/notesMaster1.xml" Id="R9e473c4d744040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649c08f6fb42c0" /><Relationship Type="http://schemas.openxmlformats.org/officeDocument/2006/relationships/notesMaster" Target="/ppt/notesMasters/notesMaster1.xml" Id="R529a0b3d2d2a4f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299f7ddabf49e1" /><Relationship Type="http://schemas.openxmlformats.org/officeDocument/2006/relationships/notesMaster" Target="/ppt/notesMasters/notesMaster1.xml" Id="R04cb75f11d7b45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9f1f3fabb14bb8" /><Relationship Type="http://schemas.openxmlformats.org/officeDocument/2006/relationships/notesMaster" Target="/ppt/notesMasters/notesMaster1.xml" Id="R1e572eee06584f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5b391f37994083" /><Relationship Type="http://schemas.openxmlformats.org/officeDocument/2006/relationships/notesMaster" Target="/ppt/notesMasters/notesMaster1.xml" Id="R364c0195948a49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87f3b7816a439b" /><Relationship Type="http://schemas.openxmlformats.org/officeDocument/2006/relationships/notesMaster" Target="/ppt/notesMasters/notesMaster1.xml" Id="R03f431ef73ff4c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本資料は実験報告ではなく、初心者向け講座として用語、3値の読み方、実在ボールの比較、実務手順を整理したもの。モデル画像は本プロジェクトの3Dモデル。一次資料: USBC Equipment Specifications Manual、Maurice Pinel Updated Dual Angle Guide。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USBC Ball Motion Studyは、カバーに関する特性を含む複数要因がボール軌道へ影響することを示している。本資料は静的慣性値とレイアウトの関係に範囲を限定する。Source: https://images.bowl.com/bowl/media/legacy/uploadedfiles/Equip_and_Specs/Equip_and_Specs_Home/08ballmotionstudy.pdf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USBC Equipment Specifications Manual: PINはウエイトブロック上端を示し、低RG軸の一端はPIN中心から1インチ以内。Source: https://bowl.com/getmedia/7b8b2ee2-cd3a-4fe1-ba31-1389d8fc9bbf/es_manual.pdf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Dual Angle Layout Techniqueはドリル角、PIN-PAP距離、VAL角の3要素で構成される。Source: https://wiki.maverickbowling.com/wiki/images/a/a5/Updated_Dual_Angle_Guide.pdf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RG、Total Differential、Intermediate Differentialの定義はUSBC Ball Motion StudyおよびUSBC SOP-BALL-1に基づく。Sources: https://images.bowl.com/bowl/media/legacy/uploadedfiles/Equip_and_Specs/Equip_and_Specs_Home/08ballmotionstudy.pdf ; https://bowl.com/getmedia/e19a2c09-19b6-43fa-8773-dab22edcfecf/sop-ball-1-asymm_rg.pdf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Manufacturer sources: Storm Ion Max https://www.stormbowling.com/storm-ion-max-bowling-ball ; Storm Phaze II https://www.stormbowling.com/medias/Storm_Phaze%20II_tech%20sheet.pdf ; Storm Tropical Surge https://www.stormbowling.com/storm-tropical-surge-bowling-ball-black-cherry ; Hammer Black Widow 3.0 https://hammerbowling.com/products/black-widow-3-0 ; Hammer Effect Tour https://hammerbowling.com/products/hammer-effect-tour ; Hammer Purple Pearl Urethane https://hammerbowling.com/collections/mide-performance/products/purple-pearl-urethane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Chart uses official 15 lb catalog data verified against manufacturer pages listed on slide 6. RG and differential alone do not predict total lane motion; USBC Ball Motion Study covers multiple contributors.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Storm Pin Buffer Layout Guide describes 0-2 in as lower flare, 3-4 in as higher flare, and 5-6 in as lower flare. Source: https://www.stormbowling.com/storm-pin-buffer-layout-guide . The plotted vertical axis is a custom static model comparison index, not lane hook.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Maurice Pinel's guide uses a practical drilling-angle range of 10 to 90 degrees and explains its interaction with VAL angle. Source: https://wiki.maverickbowling.com/wiki/images/a/a5/Updated_Dual_Angle_Guide.pdf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 angle is the angle between the Pin-to-PAP line and the VAL in the Dual Angle Layout Technique. Source: https://wiki.maverickbowling.com/wiki/images/a/a5/Updated_Dual_Angle_Guide.pdf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Values are from the project's static drilling model using official 15 lb catalog inputs, fixed PAP and grip geometry. The custom flare index is not lane hook. Comparison grid: 20/45/70 deg, 1-6 in, 20/45/70 deg, 63 conditions per ball.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Static-model comparison at 45 deg x 3.5 in x 45 deg. Official manufacturer inputs, 15 lb. Surface and lane friction are excluded. Data file: outputs/real-ball-catalog-validation.json.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Storm's layout guide emphasizes that layouts are measured from the bowler's PAP. Source: https://www.stormbowling.com/storm-pin-buffer-layout-guide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 used throughout: USBC Equipment Specifications Manual and Ball Motion Study; Maurice Pinel Updated Dual Angle Guide; Storm Pin Buffer Layout Guide; official manufacturer catalog pages listed on slide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1e172cb0f944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82a54fc90c4320" /><Relationship Type="http://schemas.openxmlformats.org/officeDocument/2006/relationships/slideLayout" Target="/ppt/slideLayouts/slideLayout1.xml" Id="R96f0a340968746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f0a340968746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e489ca9c64b84" /><Relationship Type="http://schemas.openxmlformats.org/officeDocument/2006/relationships/image" Target="/ppt/media/image.png" Id="Rab432f97af9047a0" /><Relationship Type="http://schemas.openxmlformats.org/officeDocument/2006/relationships/notesSlide" Target="/ppt/notesSlides/notesSlide1.xml" Id="R6b07ee4996dc47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fe72342bf4be5" /><Relationship Type="http://schemas.openxmlformats.org/officeDocument/2006/relationships/notesSlide" Target="/ppt/notesSlides/notesSlide2.xml" Id="R0f57e2bca7014e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665ac629447ae" /><Relationship Type="http://schemas.openxmlformats.org/officeDocument/2006/relationships/image" Target="/ppt/media/image2.png" Id="Rdfc97b148c274e56" /><Relationship Type="http://schemas.openxmlformats.org/officeDocument/2006/relationships/notesSlide" Target="/ppt/notesSlides/notesSlide3.xml" Id="R228d0357d5e14f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e569badd74b05" /><Relationship Type="http://schemas.openxmlformats.org/officeDocument/2006/relationships/notesSlide" Target="/ppt/notesSlides/notesSlide4.xml" Id="R6f6da5dc2cf241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a988eda5a414d" /><Relationship Type="http://schemas.openxmlformats.org/officeDocument/2006/relationships/notesSlide" Target="/ppt/notesSlides/notesSlide5.xml" Id="R8707f05cfff541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aea920aa74a16" /><Relationship Type="http://schemas.openxmlformats.org/officeDocument/2006/relationships/notesSlide" Target="/ppt/notesSlides/notesSlide6.xml" Id="R57100976148646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206c0721547f6" /><Relationship Type="http://schemas.openxmlformats.org/officeDocument/2006/relationships/chart" Target="/ppt/slides/charts/chart1.xml" Id="R7ace7a8893d3463b" /><Relationship Type="http://schemas.openxmlformats.org/officeDocument/2006/relationships/notesSlide" Target="/ppt/notesSlides/notesSlide7.xml" Id="R448d008443414d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e27a225eb4722" /><Relationship Type="http://schemas.openxmlformats.org/officeDocument/2006/relationships/chart" Target="/ppt/slides/charts/chart2.xml" Id="Ra9ec40fbd810431c" /><Relationship Type="http://schemas.openxmlformats.org/officeDocument/2006/relationships/notesSlide" Target="/ppt/notesSlides/notesSlide8.xml" Id="R012e8e21f73b4d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a5b7a1c02459f" /><Relationship Type="http://schemas.openxmlformats.org/officeDocument/2006/relationships/image" Target="/ppt/media/image3.png" Id="R34f6a91106ee405f" /><Relationship Type="http://schemas.openxmlformats.org/officeDocument/2006/relationships/image" Target="/ppt/media/image4.png" Id="R208583d5c95d4823" /><Relationship Type="http://schemas.openxmlformats.org/officeDocument/2006/relationships/notesSlide" Target="/ppt/notesSlides/notesSlide9.xml" Id="Rdf21171bed7940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5988d418e4201" /><Relationship Type="http://schemas.openxmlformats.org/officeDocument/2006/relationships/image" Target="/ppt/media/image5.png" Id="Ra0f3fbb43c154340" /><Relationship Type="http://schemas.openxmlformats.org/officeDocument/2006/relationships/image" Target="/ppt/media/image6.png" Id="Rf10410f7a9884146" /><Relationship Type="http://schemas.openxmlformats.org/officeDocument/2006/relationships/notesSlide" Target="/ppt/notesSlides/notesSlide10.xml" Id="Rf1cfd4ea3b8745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b2d8cba0f4037" /><Relationship Type="http://schemas.openxmlformats.org/officeDocument/2006/relationships/notesSlide" Target="/ppt/notesSlides/notesSlide11.xml" Id="R78989e37fb8845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493d40e654b4d" /><Relationship Type="http://schemas.openxmlformats.org/officeDocument/2006/relationships/chart" Target="/ppt/slides/charts/chart3.xml" Id="Rcf2d66b14f3440d6" /><Relationship Type="http://schemas.openxmlformats.org/officeDocument/2006/relationships/notesSlide" Target="/ppt/notesSlides/notesSlide12.xml" Id="R158800dbc3c14a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4ba1ccbd445e5" /><Relationship Type="http://schemas.openxmlformats.org/officeDocument/2006/relationships/notesSlide" Target="/ppt/notesSlides/notesSlide13.xml" Id="R7ee6af07b91148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b6c9eab0c45c9" /><Relationship Type="http://schemas.openxmlformats.org/officeDocument/2006/relationships/notesSlide" Target="/ppt/notesSlides/notesSlide14.xml" Id="R4f66ab1a4be14440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Tropical Surge</c:v>
          </c:tx>
          <c:spPr>
            <a:ln xmlns:a="http://schemas.openxmlformats.org/drawingml/2006/main" w="0">
              <a:noFill/>
            </a:ln>
          </c:spPr>
          <c:marker>
            <c:size val="11"/>
            <c:spPr>
              <a:solidFill xmlns:a="http://schemas.openxmlformats.org/drawingml/2006/main">
                <a:srgbClr val="087F76"/>
              </a:solidFill>
            </c:spPr>
          </c:marker>
          <c:xVal>
            <c:numLit>
              <c:formatCode>General</c:formatCode>
              <c:ptCount val="1"/>
              <c:pt idx="0">
                <c:v>2.58</c:v>
              </c:pt>
            </c:numLit>
          </c:xVal>
          <c:yVal>
            <c:numLit>
              <c:formatCode>0.000</c:formatCode>
              <c:ptCount val="1"/>
              <c:pt idx="0">
                <c:v>0.024</c:v>
              </c:pt>
            </c:numLit>
          </c:yVal>
        </c:ser>
        <c:ser>
          <c:idx val="1"/>
          <c:order val="1"/>
          <c:tx>
            <c:v>Phaze II</c:v>
          </c:tx>
          <c:spPr>
            <a:ln xmlns:a="http://schemas.openxmlformats.org/drawingml/2006/main" w="0">
              <a:noFill/>
            </a:ln>
          </c:spPr>
          <c:marker>
            <c:size val="11"/>
            <c:spPr>
              <a:solidFill xmlns:a="http://schemas.openxmlformats.org/drawingml/2006/main">
                <a:srgbClr val="D96B2B"/>
              </a:solidFill>
            </c:spPr>
          </c:marker>
          <c:xVal>
            <c:numLit>
              <c:formatCode>General</c:formatCode>
              <c:ptCount val="1"/>
              <c:pt idx="0">
                <c:v>2.48</c:v>
              </c:pt>
            </c:numLit>
          </c:xVal>
          <c:yVal>
            <c:numLit>
              <c:formatCode>0.000</c:formatCode>
              <c:ptCount val="1"/>
              <c:pt idx="0">
                <c:v>0.051</c:v>
              </c:pt>
            </c:numLit>
          </c:yVal>
        </c:ser>
        <c:ser>
          <c:idx val="2"/>
          <c:order val="2"/>
          <c:tx>
            <c:v>Purple Urethane</c:v>
          </c:tx>
          <c:spPr>
            <a:ln xmlns:a="http://schemas.openxmlformats.org/drawingml/2006/main" w="0">
              <a:noFill/>
            </a:ln>
          </c:spPr>
          <c:marker>
            <c:size val="11"/>
            <c:spPr>
              <a:solidFill xmlns:a="http://schemas.openxmlformats.org/drawingml/2006/main">
                <a:srgbClr val="76518C"/>
              </a:solidFill>
            </c:spPr>
          </c:marker>
          <c:xVal>
            <c:numLit>
              <c:formatCode>General</c:formatCode>
              <c:ptCount val="1"/>
              <c:pt idx="0">
                <c:v>2.65</c:v>
              </c:pt>
            </c:numLit>
          </c:xVal>
          <c:yVal>
            <c:numLit>
              <c:formatCode>0.000</c:formatCode>
              <c:ptCount val="1"/>
              <c:pt idx="0">
                <c:v>0.015</c:v>
              </c:pt>
            </c:numLit>
          </c:yVal>
        </c:ser>
        <c:ser>
          <c:idx val="3"/>
          <c:order val="3"/>
          <c:tx>
            <c:v>Effect Tour</c:v>
          </c:tx>
          <c:spPr>
            <a:ln xmlns:a="http://schemas.openxmlformats.org/drawingml/2006/main" w="0">
              <a:noFill/>
            </a:ln>
          </c:spPr>
          <c:marker>
            <c:size val="11"/>
            <c:spPr>
              <a:solidFill xmlns:a="http://schemas.openxmlformats.org/drawingml/2006/main">
                <a:srgbClr val="2F6FA3"/>
              </a:solidFill>
            </c:spPr>
          </c:marker>
          <c:xVal>
            <c:numLit>
              <c:formatCode>General</c:formatCode>
              <c:ptCount val="1"/>
              <c:pt idx="0">
                <c:v>2.472</c:v>
              </c:pt>
            </c:numLit>
          </c:xVal>
          <c:yVal>
            <c:numLit>
              <c:formatCode>0.000</c:formatCode>
              <c:ptCount val="1"/>
              <c:pt idx="0">
                <c:v>0.036</c:v>
              </c:pt>
            </c:numLit>
          </c:yVal>
        </c:ser>
        <c:ser>
          <c:idx val="4"/>
          <c:order val="4"/>
          <c:tx>
            <c:v>Ion Max</c:v>
          </c:tx>
          <c:spPr>
            <a:ln xmlns:a="http://schemas.openxmlformats.org/drawingml/2006/main" w="0">
              <a:noFill/>
            </a:ln>
          </c:spPr>
          <c:marker>
            <c:size val="11"/>
            <c:spPr>
              <a:solidFill xmlns:a="http://schemas.openxmlformats.org/drawingml/2006/main">
                <a:srgbClr val="20A394"/>
              </a:solidFill>
            </c:spPr>
          </c:marker>
          <c:xVal>
            <c:numLit>
              <c:formatCode>General</c:formatCode>
              <c:ptCount val="1"/>
              <c:pt idx="0">
                <c:v>2.47</c:v>
              </c:pt>
            </c:numLit>
          </c:xVal>
          <c:yVal>
            <c:numLit>
              <c:formatCode>0.000</c:formatCode>
              <c:ptCount val="1"/>
              <c:pt idx="0">
                <c:v>0.055</c:v>
              </c:pt>
            </c:numLit>
          </c:yVal>
        </c:ser>
        <c:ser>
          <c:idx val="5"/>
          <c:order val="5"/>
          <c:tx>
            <c:v>Black Widow 3.0</c:v>
          </c:tx>
          <c:spPr>
            <a:ln xmlns:a="http://schemas.openxmlformats.org/drawingml/2006/main" w="0">
              <a:noFill/>
            </a:ln>
          </c:spPr>
          <c:marker>
            <c:size val="11"/>
            <c:spPr>
              <a:solidFill xmlns:a="http://schemas.openxmlformats.org/drawingml/2006/main">
                <a:srgbClr val="B5423A"/>
              </a:solidFill>
            </c:spPr>
          </c:marker>
          <c:xVal>
            <c:numLit>
              <c:formatCode>General</c:formatCode>
              <c:ptCount val="1"/>
              <c:pt idx="0">
                <c:v>2.5</c:v>
              </c:pt>
            </c:numLit>
          </c:xVal>
          <c:yVal>
            <c:numLit>
              <c:formatCode>0.000</c:formatCode>
              <c:ptCount val="1"/>
              <c:pt idx="0">
                <c:v>0.058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0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4E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JP"/>
                    <a:ea typeface="Noto Sans JP"/>
                    <a:cs typeface="Noto Sans JP"/>
                  </a:rPr>
                  <a:t>ディファレンシャルRG（インチ）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majorUnit val="0.01"/>
      </c:valAx>
      <c:valAx>
        <c:axId val="48650112"/>
        <c:scaling>
          <c:orientation val="minMax"/>
          <c:max val="2.68"/>
          <c:min val="2.44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4E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JP"/>
                    <a:ea typeface="Noto Sans JP"/>
                    <a:cs typeface="Noto Sans JP"/>
                  </a:rPr>
                  <a:t>RG（インチ）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  <c:majorUnit val="0.04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10272D"/>
              </a:solidFill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9CBC8"/>
      </a:solidFill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Phaze II</c:v>
          </c:tx>
          <c:spPr>
            <a:ln xmlns:a="http://schemas.openxmlformats.org/drawingml/2006/main" w="28575">
              <a:solidFill>
                <a:srgbClr val="D96B2B"/>
              </a:solidFill>
            </a:ln>
          </c:spPr>
          <c:marker>
            <c:size val="7"/>
            <c:spPr>
              <a:solidFill xmlns:a="http://schemas.openxmlformats.org/drawingml/2006/main">
                <a:srgbClr val="D96B2B"/>
              </a:solidFill>
            </c:spPr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3.5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</c:numLit>
          </c:cat>
          <c:val>
            <c:numLit>
              <c:formatCode>0.000</c:formatCode>
              <c:ptCount val="7"/>
              <c:pt idx="0">
                <c:v>0.015512634144356765</c:v>
              </c:pt>
              <c:pt idx="1">
                <c:v>0.03258388646980758</c:v>
              </c:pt>
              <c:pt idx="2">
                <c:v>0.04176364570329936</c:v>
              </c:pt>
              <c:pt idx="3">
                <c:v>0.04243534264710477</c:v>
              </c:pt>
              <c:pt idx="4">
                <c:v>0.04038667543744959</c:v>
              </c:pt>
              <c:pt idx="5">
                <c:v>0.028826745436201673</c:v>
              </c:pt>
              <c:pt idx="6">
                <c:v>0.01103447729404062</c:v>
              </c:pt>
            </c:numLit>
          </c:val>
        </c:ser>
        <c:ser>
          <c:idx val="1"/>
          <c:order val="1"/>
          <c:tx>
            <c:v>Effect Tour</c:v>
          </c:tx>
          <c:spPr>
            <a:ln xmlns:a="http://schemas.openxmlformats.org/drawingml/2006/main" w="28575">
              <a:solidFill>
                <a:srgbClr val="2F6FA3"/>
              </a:solidFill>
            </a:ln>
          </c:spPr>
          <c:marker>
            <c:size val="7"/>
            <c:spPr>
              <a:solidFill xmlns:a="http://schemas.openxmlformats.org/drawingml/2006/main">
                <a:srgbClr val="2F6FA3"/>
              </a:solidFill>
            </c:spPr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3.5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</c:numLit>
          </c:cat>
          <c:val>
            <c:numLit>
              <c:formatCode>0.000</c:formatCode>
              <c:ptCount val="7"/>
              <c:pt idx="0">
                <c:v>0.010939262038916198</c:v>
              </c:pt>
              <c:pt idx="1">
                <c:v>0.0189057466438063</c:v>
              </c:pt>
              <c:pt idx="2">
                <c:v>0.02441350050056411</c:v>
              </c:pt>
              <c:pt idx="3">
                <c:v>0.025197750630662</c:v>
              </c:pt>
              <c:pt idx="4">
                <c:v>0.02464001293809271</c:v>
              </c:pt>
              <c:pt idx="5">
                <c:v>0.02052757977429419</c:v>
              </c:pt>
              <c:pt idx="6">
                <c:v>0.01730335678733778</c:v>
              </c:pt>
            </c:numLit>
          </c:val>
        </c:ser>
        <c:ser>
          <c:idx val="2"/>
          <c:order val="2"/>
          <c:tx>
            <c:v>Purple Urethane</c:v>
          </c:tx>
          <c:spPr>
            <a:ln xmlns:a="http://schemas.openxmlformats.org/drawingml/2006/main" w="28575">
              <a:solidFill>
                <a:srgbClr val="76518C"/>
              </a:solidFill>
            </a:ln>
          </c:spPr>
          <c:marker>
            <c:size val="7"/>
            <c:spPr>
              <a:solidFill xmlns:a="http://schemas.openxmlformats.org/drawingml/2006/main">
                <a:srgbClr val="76518C"/>
              </a:solidFill>
            </c:spPr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3.5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</c:numLit>
          </c:cat>
          <c:val>
            <c:numLit>
              <c:formatCode>0.000</c:formatCode>
              <c:ptCount val="7"/>
              <c:pt idx="0">
                <c:v>0.008689207247392642</c:v>
              </c:pt>
              <c:pt idx="1">
                <c:v>0.008028048726501053</c:v>
              </c:pt>
              <c:pt idx="2">
                <c:v>0.009262316989142264</c:v>
              </c:pt>
              <c:pt idx="3">
                <c:v>0.009388088839798352</c:v>
              </c:pt>
              <c:pt idx="4">
                <c:v>0.009017183809956171</c:v>
              </c:pt>
              <c:pt idx="5">
                <c:v>0.007860188374068109</c:v>
              </c:pt>
              <c:pt idx="6">
                <c:v>0.009397376651104399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JP"/>
                    <a:ea typeface="Noto Sans JP"/>
                    <a:cs typeface="Noto Sans JP"/>
                  </a:rPr>
                  <a:t>PIN-PAP（インチ）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catAx>
      <c:valAx>
        <c:axId val="48672768"/>
        <c:scaling>
          <c:orientation val="minMax"/>
          <c:max val="0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4E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JP"/>
                    <a:ea typeface="Noto Sans JP"/>
                    <a:cs typeface="Noto Sans JP"/>
                  </a:rPr>
                  <a:t>PAP補正フレア指標（モデル独自）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crossBetween val="between"/>
        <c:majorUnit val="0.0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9CBC8"/>
      </a:solidFill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PAP補正フレア指標</c:v>
          </c:tx>
          <c:spPr>
            <a:solidFill xmlns:a="http://schemas.openxmlformats.org/drawingml/2006/main">
              <a:srgbClr val="087F76"/>
            </a:solidFill>
          </c:spPr>
          <c:cat>
            <c:strLit>
              <c:ptCount val="6"/>
              <c:pt idx="0">
                <c:v>Tropical Surge</c:v>
              </c:pt>
              <c:pt idx="1">
                <c:v>Phaze II</c:v>
              </c:pt>
              <c:pt idx="2">
                <c:v>Purple Urethane</c:v>
              </c:pt>
              <c:pt idx="3">
                <c:v>Effect Tour</c:v>
              </c:pt>
              <c:pt idx="4">
                <c:v>Ion Max</c:v>
              </c:pt>
              <c:pt idx="5">
                <c:v>Black Widow 3.0</c:v>
              </c:pt>
            </c:strLit>
          </c:cat>
          <c:val>
            <c:numLit>
              <c:formatCode>General</c:formatCode>
              <c:ptCount val="6"/>
              <c:pt idx="0">
                <c:v>0.016</c:v>
              </c:pt>
              <c:pt idx="1">
                <c:v>0.042</c:v>
              </c:pt>
              <c:pt idx="2">
                <c:v>0.009</c:v>
              </c:pt>
              <c:pt idx="3">
                <c:v>0.026</c:v>
              </c:pt>
              <c:pt idx="4">
                <c:v>0.042</c:v>
              </c:pt>
              <c:pt idx="5">
                <c:v>0.045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72D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4E2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9CBC8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7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FD912-1A45-49B4-89AE-F8E422A9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9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CAFA7-6220-4DF7-9C97-D516E489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EFEB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D9EFEB"/>
                </a:solidFill>
                <a:latin typeface="Noto Sans JP"/>
                <a:ea typeface="Noto Sans JP"/>
                <a:cs typeface="Noto Sans JP"/>
              </a:rPr>
              <a:t>BEGINNER COURSE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EF170-B8C0-479A-99D4-EA090EF3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524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7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ボウリングボールの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7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ドリルレイアウト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EF301-5545-4C43-8D65-1F56EF16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AD7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C9DAD7"/>
                </a:solidFill>
                <a:latin typeface="Noto Sans JP"/>
                <a:ea typeface="Noto Sans JP"/>
                <a:cs typeface="Noto Sans JP"/>
              </a:rPr>
              <a:t>3つの数値とカタログ値を、完成球の重さの偏りから読み解く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BC840-32F0-463E-A8B8-777F0052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C94C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F2C94C"/>
                </a:solidFill>
                <a:latin typeface="Noto Sans JP"/>
                <a:ea typeface="Noto Sans JP"/>
                <a:cs typeface="Noto Sans JP"/>
              </a:rPr>
              <a:t>ドリル角 × PIN-PAP × VAL角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17063-C4C3-4A88-9E9A-8A3590BA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721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AD7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C9DAD7"/>
                </a:solidFill>
                <a:latin typeface="Noto Sans JP"/>
                <a:ea typeface="Noto Sans JP"/>
                <a:cs typeface="Noto Sans JP"/>
              </a:rPr>
              <a:t>講座用プレゼンテーション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32f97af9047a0"/>
          <a:stretch xmlns:a="http://schemas.openxmlformats.org/drawingml/2006/main"/>
        </p:blipFill>
        <p:spPr>
          <a:xfrm xmlns:a="http://schemas.openxmlformats.org/drawingml/2006/main">
            <a:off x="6381750" y="1551931"/>
            <a:ext cx="5334000" cy="37922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163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4F8FB9-FD7C-4AA5-8C5D-E461ECDE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654B1-0DFC-4A43-A247-4B7144E5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ボウリングボールのドリルレイアウト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A7D61-6D3F-4C46-B7DE-D0F1B134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この講座で区別する3つの情報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6772A-40FD-43BC-B8AE-632EF636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D7FA8-47A0-48D8-9DA8-973BD0BB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31413-C733-4001-94C6-20AD18A4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公式カタログ値と静的穴あけモデルに基づく初心者向け講座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1B71F-9906-43F0-8F1A-12CD02D4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2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64E73-FC76-4367-88FC-B4FF9F64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31432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7E846-66DF-4A16-9E20-B44F4052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2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85EBF-CA47-4BFC-985C-7ED4BCC3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6B2B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D96B2B"/>
                </a:solidFill>
                <a:latin typeface="Noto Sans JP"/>
                <a:ea typeface="Noto Sans JP"/>
                <a:cs typeface="Noto Sans JP"/>
              </a:rPr>
              <a:t>カバーと表面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62394-6C72-44FA-B767-DDACCA00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レーンとの摩擦を左右する。素材、仕上げ、オイル量の影響を強く受ける。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8184C-CCBE-4D9A-9BD5-177421D4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76400"/>
            <a:ext cx="31432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C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88B2C-A97F-45E5-A85A-70EA8E83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7640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69A20-234B-4C0B-A907-C2B08E42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193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コアの物理値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A4C14-B367-4FA0-88BF-0AE68DAB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605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RG、ディファレンシャルRG、非対称成分が、回転の始まりやすさと軸移動の上限を形づくる。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9435E-2E32-45B4-BEA3-FD6E9A98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76400"/>
            <a:ext cx="31432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C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49692E-9636-4344-82C6-A5BDE0F2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7640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DF543F-546C-4B42-BAB7-8821C267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193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A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F6FA3"/>
                </a:solidFill>
                <a:latin typeface="Noto Sans JP"/>
                <a:ea typeface="Noto Sans JP"/>
                <a:cs typeface="Noto Sans JP"/>
              </a:rPr>
              <a:t>ドリルレイアウト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9A94F9-DD0A-450E-91C5-6D0F37D5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PAPを基準にコアと穴の向きを決める。3つの値は互いに影響し合う。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276B0-F9F2-428F-826C-25A87AA5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この資料が扱う中心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CA428B-E084-4339-8C80-12F0F3B0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カタログ値と穴あけ位置から、完成球の静的な慣性値がどう変わるかを読む。何枚曲がるか、何フィートで曲がり始めるかは予測しない。</a:t>
            </a:r>
          </a:p>
        </p:txBody>
      </p:sp>
    </p:spTree>
    <p:extLst>
      <p:ext uri="{BB962C8B-B14F-4D97-AF65-F5344CB8AC3E}">
        <p14:creationId xmlns:p14="http://schemas.microsoft.com/office/powerpoint/2010/main" val="1348197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A8115-7090-4768-AF23-CE2A7F5C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31BA0-50D6-4CDD-B7C1-7DACDD41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ボウリングボールのドリルレイアウト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8DBCA-F774-477A-A0C4-E24656C1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基準点と基準線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6BF59-8294-4E78-969A-33AA756B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167C2-E138-4617-A195-62B70835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649DA-33CD-43FF-980D-2EB880B3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公式カタログ値と静的穴あけモデルに基づく初心者向け講座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04084-4F01-42B1-95A2-4BCBA08D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3 / 14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97b148c274e56"/>
          <a:stretch xmlns:a="http://schemas.openxmlformats.org/drawingml/2006/main"/>
        </p:blipFill>
        <p:spPr>
          <a:xfrm xmlns:a="http://schemas.openxmlformats.org/drawingml/2006/main">
            <a:off x="628650" y="1593228"/>
            <a:ext cx="5619750" cy="399539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2A0A7-0826-479C-959E-D76E5729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PAP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E305D-3C3F-411D-9B18-C7630120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0225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投球直後の回転軸がボール表面と交わる点。レイアウトは各ボウラーのPAPから測る。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32D12-32A9-4292-BF08-E8B44F37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336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B2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D96B2B"/>
                </a:solidFill>
                <a:latin typeface="Noto Sans JP"/>
                <a:ea typeface="Noto Sans JP"/>
                <a:cs typeface="Noto Sans JP"/>
              </a:rPr>
              <a:t>PIN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31504-3735-439A-891A-C63F1AF9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メーカーが示すピン。低RG軸の一端は、通常PIN中心から1インチ以内にある。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83154-813A-494D-87A0-EF5AABB5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38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6518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76518C"/>
                </a:solidFill>
                <a:latin typeface="Noto Sans JP"/>
                <a:ea typeface="Noto Sans JP"/>
                <a:cs typeface="Noto Sans JP"/>
              </a:rPr>
              <a:t>PSA / MB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55BC8-814A-427E-A72B-BA6B08CE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0025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非対称コアの好ましい回転軸を示す印。メーカーによって表記が異なる。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5F052-60CD-475F-8C64-AC4C79C6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43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A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2F6FA3"/>
                </a:solidFill>
                <a:latin typeface="Noto Sans JP"/>
                <a:ea typeface="Noto Sans JP"/>
                <a:cs typeface="Noto Sans JP"/>
              </a:rPr>
              <a:t>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4EFAE-3F55-4093-9E98-A7BD149E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14925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PAPを通り、投球直後の回転軸に直角な基準線。VAL角の基準になる。</a:t>
            </a:r>
          </a:p>
        </p:txBody>
      </p:sp>
    </p:spTree>
    <p:extLst>
      <p:ext uri="{BB962C8B-B14F-4D97-AF65-F5344CB8AC3E}">
        <p14:creationId xmlns:p14="http://schemas.microsoft.com/office/powerpoint/2010/main" val="12551131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CF9D09-39A9-4ADE-8728-62E1461B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3E0D6-D99F-4CF9-83C7-A988C85A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ボウリングボールのドリルレイアウト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70857-A17C-4ABA-847C-3644A47B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45° × 3.5インチ × 45°の読み方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F8694-09D5-42FC-A64A-2D6E040F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559CB-4B2F-472E-A4DC-C9C1986C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CB8BF-D52D-4AB2-81C2-61A4DF5D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公式カタログ値と静的穴あけモデルに基づく初心者向け講座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554C5-3205-49AA-9434-114AF225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4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EECE3-E6E4-440C-957D-C437BC7A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2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D68FB-9CB2-42A7-991A-981BA664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D96B2B"/>
                </a:solidFill>
                <a:latin typeface="Noto Sans JP"/>
                <a:ea typeface="Noto Sans JP"/>
                <a:cs typeface="Noto Sans JP"/>
              </a:defRPr>
            </a:pPr>
            <a:r>
              <a:rPr sz="3225" b="1">
                <a:solidFill>
                  <a:srgbClr val="D96B2B"/>
                </a:solidFill>
                <a:latin typeface="Noto Sans JP"/>
                <a:ea typeface="Noto Sans JP"/>
                <a:cs typeface="Noto Sans JP"/>
              </a:rPr>
              <a:t>45°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93DF8-1077-4FA4-9347-3C84EA07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ドリル角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EEFE9-D63A-44F0-AAC3-8FBC88A5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95675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PINとPSA / MBの向きを、PAPから見て決める角度。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AD9DE-2397-4913-9DE5-CCD71F61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81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2D88E-45E1-41C4-9710-F9B7C194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336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32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3.5 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711D3-2C2D-4137-8ED5-41FFF23B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PIN-PAP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E38CA-D86A-49FF-8DEF-966B43C9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95675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PAPからPINまでの球面距離。コア軸と投球軸の離れ方を決める。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8E727-53FD-4CCA-B81B-DE00907D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81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E1C81-5364-4892-9405-F92919D0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336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F6FA3"/>
                </a:solidFill>
                <a:latin typeface="Noto Sans JP"/>
                <a:ea typeface="Noto Sans JP"/>
                <a:cs typeface="Noto Sans JP"/>
              </a:defRPr>
            </a:pPr>
            <a:r>
              <a:rPr sz="3225" b="1">
                <a:solidFill>
                  <a:srgbClr val="2F6FA3"/>
                </a:solidFill>
                <a:latin typeface="Noto Sans JP"/>
                <a:ea typeface="Noto Sans JP"/>
                <a:cs typeface="Noto Sans JP"/>
              </a:rPr>
              <a:t>45°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4C9F24-45EB-4E44-BAF5-11593159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718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VAL角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BB8D4-1844-4198-933F-E3ED2B86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95675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PIN-PAP線とVALの間の角度。PIN周辺とグリップ穴の向きを決める。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20551-B4B6-413D-AA70-F7B56719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9944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9EFEB"/>
          </a:solidFill>
          <a:ln xmlns:a="http://schemas.openxmlformats.org/drawingml/2006/main" w="9525">
            <a:solidFill>
              <a:srgbClr val="087F7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F2EC00-3346-4CEB-84D1-9DA46FC2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937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3つの値は独立した性能つまみではない。1つを変えると、PIN、PSA / MB、グリップ穴の位置関係が変わり、完成球の慣性値も変わる。</a:t>
            </a:r>
          </a:p>
        </p:txBody>
      </p:sp>
    </p:spTree>
    <p:extLst>
      <p:ext uri="{BB962C8B-B14F-4D97-AF65-F5344CB8AC3E}">
        <p14:creationId xmlns:p14="http://schemas.microsoft.com/office/powerpoint/2010/main" val="1601201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62AF5D-616F-4799-B71F-7A8F4208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11719-86D1-4F90-A260-807EDD42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ボウリングボールのドリルレイアウト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E56BB-F6B5-4287-9E83-5D1B8766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カタログ値の意味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F274E-D7DD-4D7C-AB29-D5D4FC78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3591D-7AED-4428-B94A-9F7B2624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24BBE-5074-40D1-87C2-458D851C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公式カタログ値と静的穴あけモデルに基づく初心者向け講座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E0C3F-858B-44DE-A5B1-7F3FA710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5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75423-1844-42EB-B49B-85010770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RG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FC8CA-2245-4850-A0C1-FF1DD115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76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回転の始まりやすさ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7FA56-FD2B-45E1-8135-9488BC29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小さいほど慣性半径が小さく、同じ条件なら回転状態が変わりやすい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91D0F-FDF9-4880-B197-702A7FB3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16DC6-347D-4822-9D24-776BD238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6B2B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D96B2B"/>
                </a:solidFill>
                <a:latin typeface="Noto Sans JP"/>
                <a:ea typeface="Noto Sans JP"/>
                <a:cs typeface="Noto Sans JP"/>
              </a:rPr>
              <a:t>ディファレンシャルRG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8A946-B5E4-4BBA-B15B-F46804B1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431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最大RG - 最小RG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D7625-E466-4C7A-A08B-94FA00E1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43175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完成球が持つ軸移動の土台。大きいほど上限が大きい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77822-269D-4EF0-AC4E-56D12466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ED006-C630-4B95-8127-C73ACD1E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42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6518C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76518C"/>
                </a:solidFill>
                <a:latin typeface="Noto Sans JP"/>
                <a:ea typeface="Noto Sans JP"/>
                <a:cs typeface="Noto Sans JP"/>
              </a:rPr>
              <a:t>インターミディエイト・ディファレンシャル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85D99-F412-43EA-8940-DCAEBC1B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99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最大RG - 中間RG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B50C0-9551-42CC-A9AC-95AEE329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9975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非対称性の大きさ。PSA / MBの向きと関係する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264DBF-95AD-47B4-A86E-CC4AC655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30BC38-D46D-455A-A763-252257DC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FA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2F6FA3"/>
                </a:solidFill>
                <a:latin typeface="Noto Sans JP"/>
                <a:ea typeface="Noto Sans JP"/>
                <a:cs typeface="Noto Sans JP"/>
              </a:rPr>
              <a:t>表面・カバー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6E3899-F0D6-47F6-9315-AFAB08B9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767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摩擦とオイルへの応答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9B1CD8-2011-4B0F-B4AA-F8284C90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76775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同じRGでも、レーン上の動きは表面素材と仕上げで変わる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0BA20B-ABED-481A-95F9-669E6E2E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カタログRGは穴あけ前の値。完成球では穴の体積と位置によって3方向のRGが変わる。</a:t>
            </a:r>
          </a:p>
        </p:txBody>
      </p:sp>
    </p:spTree>
    <p:extLst>
      <p:ext uri="{BB962C8B-B14F-4D97-AF65-F5344CB8AC3E}">
        <p14:creationId xmlns:p14="http://schemas.microsoft.com/office/powerpoint/2010/main" val="4606836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75177-25E8-4AFE-8EB7-4E120BC1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5369B-4A81-4D52-ACBA-AC252355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ボウリングボールのドリルレイアウト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8A9A5-4BD1-48A7-BBA5-E09D6AFA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実在6球の公式カタログ値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1841B-3ED1-4388-A0C3-4A00D200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48DB9-FDC2-485C-963D-FA97AF10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39B52-81DA-48EF-B09B-86683FFD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公式カタログ値と静的穴あけモデルに基づく初心者向け講座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59DBC-AA3D-4079-95AB-B2E58E7D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6 / 14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1428750"/>
                <a:gridCol w="1428750"/>
                <a:gridCol w="1809750"/>
                <a:gridCol w="1828800"/>
              </a:tblGrid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ボール（15 lb）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コア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Diff. RG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Int. Diff.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Storm TROPICAL SURGE BLACK-CHERRY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2.580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-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Storm Phaze II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2.480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-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Hammer Purple Pearl Urethane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2.650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-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Hammer Effect Tour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非対称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2.472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0.012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Storm ION MAX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非対称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2.470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0.055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0.014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Hammer Black Widow 3.0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非対称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2.500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0.016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9CC91-DA3B-4AEA-8395-B4AEF9AE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選定方針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244F6-0DA2-4020-AD96-EB350A91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48325"/>
            <a:ext cx="1057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17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対称 / 非対称、低RG / 高RG、低ディファレンシャル / 高ディファレンシャルを横断して比較した。数値はメーカー公式ページと照合済み。</a:t>
            </a:r>
          </a:p>
        </p:txBody>
      </p:sp>
    </p:spTree>
    <p:extLst>
      <p:ext uri="{BB962C8B-B14F-4D97-AF65-F5344CB8AC3E}">
        <p14:creationId xmlns:p14="http://schemas.microsoft.com/office/powerpoint/2010/main" val="529723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63448-1035-410E-BC39-A35DE4F7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41D6F-6526-487C-AE43-249DF308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ボウリングボールのドリルレイアウト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85B51-16AB-4830-899D-E77BA010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RGとディファレンシャルRGの位置づけ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9029A-6FC6-4C25-A1FE-74AD7E95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59595-DDCC-4F2D-92C1-087C7788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EC12D-E1CF-4D52-851D-ABD63A6F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公式カタログ値と静的穴あけモデルに基づく初心者向け講座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E3F5E-DE36-41EC-B98D-42452ECF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7 / 14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09600" y="1371600"/>
          <a:ext xmlns:a="http://schemas.openxmlformats.org/drawingml/2006/main" cx="7239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ce7a8893d3463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76082-1C31-4126-A10D-49814009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右へ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A2F82-3928-424A-8F3E-89F79701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76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RGが大きい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32CDE-BEB3-46AA-8712-E74812EF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050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静的には回転状態が変わりにくい側。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2617A-3B01-4B44-9E8D-52CDF863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6B2B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D96B2B"/>
                </a:solidFill>
                <a:latin typeface="Noto Sans JP"/>
                <a:ea typeface="Noto Sans JP"/>
                <a:cs typeface="Noto Sans JP"/>
              </a:rPr>
              <a:t>上へ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DD88C-C5E6-405B-8272-6302E391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433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Diff. RGが大きい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40DBC-ADC7-4341-9235-A68D3D25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719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軸移動の上限が大きい側。ただし表面と投球条件も必要。</a:t>
            </a:r>
          </a:p>
        </p:txBody>
      </p:sp>
    </p:spTree>
    <p:extLst>
      <p:ext uri="{BB962C8B-B14F-4D97-AF65-F5344CB8AC3E}">
        <p14:creationId xmlns:p14="http://schemas.microsoft.com/office/powerpoint/2010/main" val="2582433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8CF99-4AB1-46DA-9476-709C8B00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57A27-0751-4EEF-A592-012CD2E5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ボウリングボールのドリルレイアウト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0DE99-1506-45D6-B263-BBB337F2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PIN-PAP距離と軸移動の使われ方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60191-9E82-4620-AEFE-4B0ABCC2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056FB-04F0-4895-8EB0-8D0BCEA2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190EE-6ABD-490D-A640-6FCE480D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公式カタログ値と静的穴あけモデルに基づく初心者向け講座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3CAF4-5D81-4A58-8A48-6363D933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8 / 14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ec40fbd810431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27C38-195B-4980-AA2F-3B636234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基本傾向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F4832-6F81-4169-8639-D2FACA94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977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中程度の距離で指標が大きくなる傾向があり、6球中5球は3.5インチで最大。低ディファレンシャル球は例外。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A77AF-C911-4C23-BD4F-D9FBDA50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6518C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76518C"/>
                </a:solidFill>
                <a:latin typeface="Noto Sans JP"/>
                <a:ea typeface="Noto Sans JP"/>
                <a:cs typeface="Noto Sans JP"/>
              </a:rPr>
              <a:t>例外の読み方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32DAE-FE7C-49A4-9E42-6A06B54C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9097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元のディファレンシャルが非常に小さい球では、穴あけによる変化の割合が大きい。距離だけで判断しない。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CFFF3-46BB-4818-B530-6B5956AF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387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6B2B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D96B2B"/>
                </a:solidFill>
                <a:latin typeface="Noto Sans JP"/>
                <a:ea typeface="Noto Sans JP"/>
                <a:cs typeface="Noto Sans JP"/>
              </a:rPr>
              <a:t>この縦軸は曲がる板数ではない。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7636166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B134C-3EB4-4717-A17F-23C98E60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E2E9C-4216-4C1B-B41C-06C1876B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ボウリングボールのドリルレイアウト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816F2-AD6B-46D1-82CD-463AF917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ドリル角が変えるもの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BBF7E-5698-4BE3-8BEB-7D780177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3CC60-0E29-4DC6-AF97-686CAB3C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70DFD-9827-4149-8B9F-9DC5C1EB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公式カタログ値と静的穴あけモデルに基づく初心者向け講座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37133-D995-4792-BDE3-417A31C8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9 / 14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6a91106ee405f"/>
          <a:stretch xmlns:a="http://schemas.openxmlformats.org/drawingml/2006/main"/>
        </p:blipFill>
        <p:spPr>
          <a:xfrm xmlns:a="http://schemas.openxmlformats.org/drawingml/2006/main">
            <a:off x="609600" y="1430193"/>
            <a:ext cx="4953000" cy="3521364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8583d5c95d4823"/>
          <a:stretch xmlns:a="http://schemas.openxmlformats.org/drawingml/2006/main"/>
        </p:blipFill>
        <p:spPr>
          <a:xfrm xmlns:a="http://schemas.openxmlformats.org/drawingml/2006/main">
            <a:off x="6629400" y="1430193"/>
            <a:ext cx="4953000" cy="352136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F7851-3D74-45D3-B034-189BCDE4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6B2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D96B2B"/>
                </a:solidFill>
                <a:latin typeface="Noto Sans JP"/>
                <a:ea typeface="Noto Sans JP"/>
                <a:cs typeface="Noto Sans JP"/>
              </a:rPr>
              <a:t>20°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C5170-1125-4300-B93B-60096A0C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621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6B2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D96B2B"/>
                </a:solidFill>
                <a:latin typeface="Noto Sans JP"/>
                <a:ea typeface="Noto Sans JP"/>
                <a:cs typeface="Noto Sans JP"/>
              </a:rPr>
              <a:t>80°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D456E-771B-4CE4-AEDA-46DF797C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86375"/>
            <a:ext cx="104013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0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ドリル角はPSA / MB側の向きを変え、グリップ穴がコアのどこを通るかにも影響する。非対称コアでは特に、完成球の中間RGとPSA方向が変わりやすい。</a:t>
            </a:r>
          </a:p>
        </p:txBody>
      </p:sp>
    </p:spTree>
    <p:extLst>
      <p:ext uri="{BB962C8B-B14F-4D97-AF65-F5344CB8AC3E}">
        <p14:creationId xmlns:p14="http://schemas.microsoft.com/office/powerpoint/2010/main" val="9100511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1965A-3C05-4A64-ACCE-D77CAE80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816B4-7BDA-4A5C-A386-BC19DFCF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ボウリングボールのドリルレイアウト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8E8F2-FA87-4F6E-953D-BE51BFF1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VAL角が変えるもの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25BF7-2585-4134-8044-B2C39BA9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5CFB3-F0AE-4FB7-891A-D255DCF1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D8151-0522-4613-A468-B5D71E8D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公式カタログ値と静的穴あけモデルに基づく初心者向け講座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72B21-3155-4F30-8F45-087C2FAE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10 / 14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3fbb43c154340"/>
          <a:stretch xmlns:a="http://schemas.openxmlformats.org/drawingml/2006/main"/>
        </p:blipFill>
        <p:spPr>
          <a:xfrm xmlns:a="http://schemas.openxmlformats.org/drawingml/2006/main">
            <a:off x="609600" y="1430193"/>
            <a:ext cx="4953000" cy="3521364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410f7a9884146"/>
          <a:stretch xmlns:a="http://schemas.openxmlformats.org/drawingml/2006/main"/>
        </p:blipFill>
        <p:spPr>
          <a:xfrm xmlns:a="http://schemas.openxmlformats.org/drawingml/2006/main">
            <a:off x="6629400" y="1430193"/>
            <a:ext cx="4953000" cy="352136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31510-07E5-427E-9A35-88870C19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6FA3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F6FA3"/>
                </a:solidFill>
                <a:latin typeface="Noto Sans JP"/>
                <a:ea typeface="Noto Sans JP"/>
                <a:cs typeface="Noto Sans JP"/>
              </a:rPr>
              <a:t>20°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64283-EFC9-4309-8409-34D90B63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621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6FA3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F6FA3"/>
                </a:solidFill>
                <a:latin typeface="Noto Sans JP"/>
                <a:ea typeface="Noto Sans JP"/>
                <a:cs typeface="Noto Sans JP"/>
              </a:rPr>
              <a:t>70°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06609-679B-4433-9BEA-4C5ECB14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86375"/>
            <a:ext cx="104013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VAL角はPIN-PAP線とVALの開きを変える。同じPIN-PAP距離でもPINとグリップ穴の位置関係が変わるため、穴あけ後の3方向RGは同じにならない。</a:t>
            </a:r>
          </a:p>
        </p:txBody>
      </p:sp>
    </p:spTree>
    <p:extLst>
      <p:ext uri="{BB962C8B-B14F-4D97-AF65-F5344CB8AC3E}">
        <p14:creationId xmlns:p14="http://schemas.microsoft.com/office/powerpoint/2010/main" val="8585995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CFF9F-9308-477C-B9C2-8DAF7764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99F72-EF16-442D-9AED-2CF2BC5F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ボウリングボールのドリルレイアウト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11260-95FB-4455-8980-E345D1D8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3値は組み合わせで読む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8D3DD-2727-484A-BC41-B16DA435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E84BC-068F-46F2-BB54-3BC30ECA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E820C-9387-43C6-9276-49C7674C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公式カタログ値と静的穴あけモデルに基づく初心者向け講座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06350-E58D-4FA3-B66D-EC047FFA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11 / 14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571750"/>
                <a:gridCol w="1809750"/>
                <a:gridCol w="2000250"/>
                <a:gridCol w="2590800"/>
              </a:tblGrid>
              <a:tr h="67865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比較条件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レイアウト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Ion Max
フレア指標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Tropical Surge
フレア指標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読み取り</a:t>
                      </a:r>
                    </a:p>
                  </a:txBody>
                  <a:tcPr marL="91440" marR="91440" marT="45720" marB="45720"/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角度合計が小さい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20° × 3.5 in × 20°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指標が大きい</a:t>
                      </a:r>
                    </a:p>
                  </a:txBody>
                  <a:tcPr marL="91440" marR="91440" marT="45720" marB="45720"/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中央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45° × 3.5 in × 45°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比較基準</a:t>
                      </a:r>
                    </a:p>
                  </a:txBody>
                  <a:tcPr marL="91440" marR="91440" marT="45720" marB="45720"/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角度合計が大きい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70° × 5.0 in × 70°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7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指標が小さい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FA11F-CDCE-4133-9772-C1D182C7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同じレイアウトでも値の大きさはボールによって変わる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FA080-6393-4ECD-8ADA-34DE399B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477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Ion Maxは高ディファレンシャルの非対称コア、Tropical Surgeは低ディファレンシャルの対称コア。3値は完成球の向きを変えるが、元のコアが持つ上限までは同じにしない。</a:t>
            </a:r>
          </a:p>
        </p:txBody>
      </p:sp>
    </p:spTree>
    <p:extLst>
      <p:ext uri="{BB962C8B-B14F-4D97-AF65-F5344CB8AC3E}">
        <p14:creationId xmlns:p14="http://schemas.microsoft.com/office/powerpoint/2010/main" val="8807780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DE132-8A59-4E3B-BC30-37785E4C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775E2-11AA-4954-8055-9B424164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ボウリングボールのドリルレイアウト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E0A98-19A0-447A-9CF6-BC5162BC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実在6球で確認した共通点と差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19DF8-9084-4C35-BD56-1EC01BC3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4153F-2EA0-40FA-8234-F62D0DFF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CFD7A-AB32-4757-9AA2-297C6CC7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公式カタログ値と静的穴あけモデルに基づく初心者向け講座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8F91B-47FF-43AA-AEF7-5D22E572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12 / 14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000875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2d66b14f3440d6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3E624-FCB8-4FAE-9E51-EEEC9AC9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共通点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85F1B-2D44-4D98-B09C-0302DCF8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PIN-PAPは多くの球で山形の傾向を示した。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05560-2D02-430C-B549-15C089B5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B2B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D96B2B"/>
                </a:solidFill>
                <a:latin typeface="Noto Sans JP"/>
                <a:ea typeface="Noto Sans JP"/>
                <a:cs typeface="Noto Sans JP"/>
              </a:rPr>
              <a:t>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62C7E-9FE2-405D-B645-CA4A3714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同じ45° × 3.5 in × 45°でも、指標は約0.009から0.045まで広がった。コアの物理値を先に読む必要がある。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BBC63-3485-40BE-AD8C-2C723CFD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43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4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518C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76518C"/>
                </a:solidFill>
                <a:latin typeface="Noto Sans JP"/>
                <a:ea typeface="Noto Sans JP"/>
                <a:cs typeface="Noto Sans JP"/>
              </a:rPr>
              <a:t>表面の違いはこのグラフに含めていない。</a:t>
            </a:r>
          </a:p>
        </p:txBody>
      </p:sp>
    </p:spTree>
    <p:extLst>
      <p:ext uri="{BB962C8B-B14F-4D97-AF65-F5344CB8AC3E}">
        <p14:creationId xmlns:p14="http://schemas.microsoft.com/office/powerpoint/2010/main" val="7341402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4D83FE-6EDC-4C66-A432-81ED0827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F5DF7-7AE5-4750-A1D9-3A756755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ボウリングボールのドリルレイアウト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D2337-3209-4FA9-96BE-F202F32A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実務での確認順序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E1C18-65ED-40B5-B58B-AF06508B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5ABC2-FF04-4302-BD6B-4C8C1A52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B618B-23F1-4C33-9DD0-1DF6F143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公式カタログ値と静的穴あけモデルに基づく初心者向け講座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89952-F925-4260-8385-5AA72271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13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85F88-D1AF-456B-9D26-E4D050E7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F86C5-B6B0-4BD5-99A0-03C532D5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001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PAPを測る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B9F16-95BF-404C-92AE-58832A2D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097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同じ数値でもPAPが違えば穴の位置は変わる。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7E536-DD63-41A2-BBA8-E6EC6EA4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F5228-07C5-412F-A550-4A5487C3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E3626-BB8F-4386-9BD2-83C03BC6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ボールの公式値を読む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39BF2-92D3-4881-A4CB-8FB8BFEA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重量別のRG、Diff. RG、Int. Diff.、コア区分を確認する。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93604-0CC7-47AF-A504-5E5C1FF7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384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91083-5010-4577-8C19-D86BC0D0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DE4C0-CF9C-493B-8052-DB497A6D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670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3値を一組で決める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A3770-ACD9-47BF-9C2A-0ED781E1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ドリル角、PIN-PAP、VAL角を同時に記録する。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DB16CC-3BDF-4DE1-8D44-16236A28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719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21E9BF-0BCF-4805-9E9F-53158A97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3B7AA6-6052-490B-8DA2-00E8807A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005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穴あけ後を再計算する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26E4C-409B-4A62-8BA9-773CE9D6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穴径、穴深さ、グリップを含めて3方向RGを確認する。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5D04AC-7080-4996-9CF2-E11E64D4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2E5837-3EB0-494D-951C-1F7A2B3D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82B461-B9ED-4307-8A6D-E5BE751D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339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レーン条件は別に合わせる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BE7537-08A4-4324-8D0B-37A6009F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カバー、表面、速度、回転数、オイル条件を加えて最終判断する。</a:t>
            </a:r>
          </a:p>
        </p:txBody>
      </p:sp>
    </p:spTree>
    <p:extLst>
      <p:ext uri="{BB962C8B-B14F-4D97-AF65-F5344CB8AC3E}">
        <p14:creationId xmlns:p14="http://schemas.microsoft.com/office/powerpoint/2010/main" val="12775044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967396-A48C-4953-9DD3-270957FC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784B9-7A39-4F0F-B82D-0B225A31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ボウリングボールのドリルレイアウト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D66C8-CEF8-415F-AA34-695D6CB9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講座のまとめ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8C367-9D49-45E3-8C3C-C373E348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57CF7-FB23-4720-848C-8F8A9BCC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40312-4EDD-4B9F-9172-446B4A9A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公式カタログ値と静的穴あけモデルに基づく初心者向け講座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9FB67-4D42-420D-9A8B-9DCFBE7B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E666B"/>
                </a:solidFill>
                <a:latin typeface="Noto Sans JP"/>
                <a:ea typeface="Noto Sans JP"/>
                <a:cs typeface="Noto Sans JP"/>
              </a:rPr>
              <a:t>14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D773D-843D-436F-9DE2-DE83414C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D402D-0DBF-4BAB-8B7A-4E403064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F76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87F76"/>
                </a:solidFill>
                <a:latin typeface="Noto Sans JP"/>
                <a:ea typeface="Noto Sans JP"/>
                <a:cs typeface="Noto Sans JP"/>
              </a:rPr>
              <a:t>RG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6F75D-E659-4656-B9F9-FB08ECA9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57325"/>
            <a:ext cx="714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回転状態が変わり始める性質の基準。まず重量別の公式値を確認する。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8E186-B9EC-45CB-9FBB-2FF9C1F0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BB721-2AC9-43EC-98DC-0DDF96DE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24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B2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D96B2B"/>
                </a:solidFill>
                <a:latin typeface="Noto Sans JP"/>
                <a:ea typeface="Noto Sans JP"/>
                <a:cs typeface="Noto Sans JP"/>
              </a:rPr>
              <a:t>Diff. RG / Int. Diff.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673F2-46EA-4866-B2D9-CDC6C84C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24125"/>
            <a:ext cx="714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完成球が持つ軸移動の上限と非対称性の基準。表面性能とは分けて読む。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1F9B5-84DA-4688-B916-30E9AF5B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2314E7-C81B-4781-863D-90211D0F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909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A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2F6FA3"/>
                </a:solidFill>
                <a:latin typeface="Noto Sans JP"/>
                <a:ea typeface="Noto Sans JP"/>
                <a:cs typeface="Noto Sans JP"/>
              </a:rPr>
              <a:t>3つのレイアウト値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E8036-8515-4440-829E-133B47AA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90925"/>
            <a:ext cx="714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ドリル角、PIN-PAP、VAL角は一組。穴あけ後の3方向RGを同時に変える。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F8E4C-5733-43D1-A144-3967B428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8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ECC43-A623-424E-AD3F-6CF8D956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577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6518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76518C"/>
                </a:solidFill>
                <a:latin typeface="Noto Sans JP"/>
                <a:ea typeface="Noto Sans JP"/>
                <a:cs typeface="Noto Sans JP"/>
              </a:rPr>
              <a:t>最終判断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CDD46-5FC0-482A-884A-410D08B5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57725"/>
            <a:ext cx="714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10272D"/>
                </a:solidFill>
                <a:latin typeface="Noto Sans JP"/>
                <a:ea typeface="Noto Sans JP"/>
                <a:cs typeface="Noto Sans JP"/>
              </a:rPr>
              <a:t>静的計算に、カバー、表面、投球条件、レーン条件を重ねる。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90DBF-5743-4EE0-A15F-12C768B1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477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72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1C3E4B-5B94-4D89-A30D-0888745B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816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数値の大小だけでボールを選ばず、公式値、PAP、3値、表面条件の順に根拠を積み上げる。</a:t>
            </a:r>
          </a:p>
        </p:txBody>
      </p:sp>
    </p:spTree>
    <p:extLst>
      <p:ext uri="{BB962C8B-B14F-4D97-AF65-F5344CB8AC3E}">
        <p14:creationId xmlns:p14="http://schemas.microsoft.com/office/powerpoint/2010/main" val="11106617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2026-09-19T08:45:03.2200000Z</dcterms:created>
  <dcterms:modified xsi:type="dcterms:W3CDTF">2026-09-19T08:45:03.2200000Z</dcterms:modified>
</coreProperties>
</file>